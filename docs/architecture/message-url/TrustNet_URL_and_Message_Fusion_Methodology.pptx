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2700000" cy="1574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 Runtime methodology of the selected phishing release regional-recall-v1. The two text pipelines contain TfidfVectorizer and SGDClassifier. Structural inference uses 30 url-structural-v3 features and LGBMClassifier. Base, complementary and correction fusion use HistGradientBoostingClassifier, with IsotonicRegression calibrators for baseline/correction experts. The complementary fusion is internal to the correction expert, not a third independent routed expert. Routing uses query first, root for an empty/root path, otherwise path. Rescue can add a warning, never cancel a primary alert. Thresholds are versioned in the manifest and differ by route/rescue, so this diagram intentionally contains no global numeric threshold. Conditional routing calibration is not established. Local URL policy adds structure/lookalike findings. The optional live lane runs in standalone website collection or explicit saved-link inspection, never silently during quick embedded-link inference. The collector protects against private IP destinations, pins validated destinations, verifies TLS and bounds redirects and static HTML. JavaScript is not executed and forms are not submitted. An explicit inspection returns its own timestamped result and does not overwrite the source message assessment. Standalone scans use the configured HTTP fallback or Kafka worker; this figure abstracts transport while retaining the actual inference logic. Source: models/phishing_url/inference/regional_model.py; recall_model.py; phishing_detector.py; checkpoints/regional_recall_v1/manifest.json; services/phishing_url/app/detection_service.py; shared/schemas/url_inspection.py. This diagram makes no accuracy, model novelty or publication superiority claim.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 Implemented message-url-max-v1 decision fusion shared by website and Gmail adapter. The website accepts SMS plain text or selected email context; email HTML is decoded while script/style/template data is excluded. Gmail MV3 content extraction is click initiated, scans only the selected expanded email and excludes attachments. The trusted worker holds session credentials outside the mail DOM, uses fixed localhost gateway origins, and prevents stale navigation results. Chrome/Edge are intended targets. Automated DOM/worker/actual API tests passed but live Gmail installation was skipped; arbitrary browser compatibility is not established. Scan management authenticates and persists owner-scoped records. Selected message-distilbert-lexical-links-hybrid-4 mixes fine-tuned DistilBERT with word/character TF-IDF, Logistic Regression and 14 locally parsed URL features in the linear branch. It uses validation-selected mixture and temperature scaling, not RoBERTa. All accepted text windows are processed; language restrictions and the 10,000 character limit remain explicit. Occlusion measures bounded span sensitivity of the complete deployed predictor, not causal proof. Link extraction uses body text, email anchor hrefs and displayed link destinations, assesses eight unique literal links at most, with two requests concurrently and a total deadline. The URL service quick /infer path does not contact destinations. Fusion uses max(message risk, available URL indices). A URL phishing label escalates to LIKELY_SCAM. URL review or unavailable checks can escalate a low-indicator text verdict to SUSPICIOUS. A benign URL cannot cancel a text alert. Without links the text result is retained. The combined index is not a probability and combined confidence is unavailable. Message probabilities/confidence remain separate. Sender identity and AI authorship are not verified. Explicit inspection resolves the link from the saved owner record, reuses the protected collector, and stores a separate timestamped snapshot. It cannot overwrite the source quick score. Snapshots load with history and website PDF exports. Optional Groq is outside the core inference path and is disabled in the extension. Measured 293 accepted emails from a previously inspected frozen curated source: text accuracy 85.32%, recall 87.37%, F1 0.7943; fusion accuracy 75.77%, recall 91.58%, F1 0.7102. Four extra true alerts cost 32 extra false alerts. Seven of 300 inputs were rejected by language validation. This is a recall/false-positive tradeoff, not an accuracy improvement or untouched prospective benchmark. Source: services/scam_message/app/link_fusion.py; models/scam_message/detector.py; shared/schemas/message_input.py; services/scan_management/app/routers/link_inspection_router.py; extensions/trustnet-mail; docs/message-url-fusion.md.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hishing URL detection methodology"/>
          <p:cNvSpPr txBox="1"/>
          <p:nvPr/>
        </p:nvSpPr>
        <p:spPr>
          <a:xfrm>
            <a:off x="508000" y="254000"/>
            <a:ext cx="11684000" cy="533400"/>
          </a:xfrm>
          <a:prstGeom prst="rect">
            <a:avLst/>
          </a:prstGeom>
          <a:noFill/>
        </p:spPr>
        <p:txBody>
          <a:bodyPr wrap="none" lIns="0" rIns="0" tIns="0" bIns="0" anchor="ctr">
            <a:spAutoFit/>
          </a:bodyPr>
          <a:lstStyle/>
          <a:p>
            <a:pPr algn="l">
              <a:lnSpc>
                <a:spcPct val="110000"/>
              </a:lnSpc>
              <a:spcBef>
                <a:spcPts val="0"/>
              </a:spcBef>
              <a:spcAft>
                <a:spcPts val="0"/>
              </a:spcAft>
              <a:defRPr sz="3000" b="1">
                <a:solidFill>
                  <a:srgbClr val="000000"/>
                </a:solidFill>
                <a:latin typeface="Arial"/>
              </a:defRPr>
            </a:pPr>
            <a:r>
              <a:t>Phishing URL detection methodology</a:t>
            </a:r>
          </a:p>
        </p:txBody>
      </p:sp>
      <p:sp>
        <p:nvSpPr>
          <p:cNvPr id="3" name="TrustNet AI   URL inference and supporting website evidence"/>
          <p:cNvSpPr txBox="1"/>
          <p:nvPr/>
        </p:nvSpPr>
        <p:spPr>
          <a:xfrm>
            <a:off x="508000" y="825500"/>
            <a:ext cx="11684000" cy="355600"/>
          </a:xfrm>
          <a:prstGeom prst="rect">
            <a:avLst/>
          </a:prstGeom>
          <a:noFill/>
        </p:spPr>
        <p:txBody>
          <a:bodyPr wrap="none" lIns="0" rIns="0" tIns="0" bIns="0" anchor="ctr">
            <a:spAutoFit/>
          </a:bodyPr>
          <a:lstStyle/>
          <a:p>
            <a:pPr algn="l">
              <a:lnSpc>
                <a:spcPct val="110000"/>
              </a:lnSpc>
              <a:spcBef>
                <a:spcPts val="0"/>
              </a:spcBef>
              <a:spcAft>
                <a:spcPts val="0"/>
              </a:spcAft>
              <a:defRPr sz="1800" b="0">
                <a:solidFill>
                  <a:srgbClr val="000000"/>
                </a:solidFill>
                <a:latin typeface="Arial"/>
              </a:defRPr>
            </a:pPr>
            <a:r>
              <a:t>TrustNet AI   URL inference and supporting website evidence</a:t>
            </a:r>
          </a:p>
        </p:txBody>
      </p:sp>
      <p:sp>
        <p:nvSpPr>
          <p:cNvPr id="4" name="URL submission"/>
          <p:cNvSpPr/>
          <p:nvPr/>
        </p:nvSpPr>
        <p:spPr>
          <a:xfrm>
            <a:off x="3302000" y="1435100"/>
            <a:ext cx="6096000" cy="965200"/>
          </a:xfrm>
          <a:prstGeom prst="rect">
            <a:avLst/>
          </a:prstGeom>
          <a:solidFill>
            <a:srgbClr val="FFFFFF"/>
          </a:solidFill>
          <a:ln w="15240">
            <a:solidFill>
              <a:srgbClr val="00000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URL submission"/>
          <p:cNvSpPr txBox="1"/>
          <p:nvPr/>
        </p:nvSpPr>
        <p:spPr>
          <a:xfrm>
            <a:off x="3429000" y="1549400"/>
            <a:ext cx="5842000" cy="342900"/>
          </a:xfrm>
          <a:prstGeom prst="rect">
            <a:avLst/>
          </a:prstGeom>
          <a:noFill/>
        </p:spPr>
        <p:txBody>
          <a:bodyPr wrap="none" lIns="0" rIns="0" tIns="0" bIns="0" anchor="ctr">
            <a:spAutoFit/>
          </a:bodyPr>
          <a:lstStyle/>
          <a:p>
            <a:pPr algn="ctr">
              <a:lnSpc>
                <a:spcPct val="110000"/>
              </a:lnSpc>
              <a:spcBef>
                <a:spcPts val="0"/>
              </a:spcBef>
              <a:spcAft>
                <a:spcPts val="0"/>
              </a:spcAft>
              <a:defRPr sz="2100" b="1">
                <a:solidFill>
                  <a:srgbClr val="000000"/>
                </a:solidFill>
                <a:latin typeface="Arial"/>
              </a:defRPr>
            </a:pPr>
            <a:r>
              <a:t>URL submission</a:t>
            </a:r>
          </a:p>
        </p:txBody>
      </p:sp>
      <p:sp>
        <p:nvSpPr>
          <p:cNvPr id="6" name="Website input or a saved message link"/>
          <p:cNvSpPr txBox="1"/>
          <p:nvPr/>
        </p:nvSpPr>
        <p:spPr>
          <a:xfrm>
            <a:off x="3454400" y="1930400"/>
            <a:ext cx="5791200" cy="368300"/>
          </a:xfrm>
          <a:prstGeom prst="rect">
            <a:avLst/>
          </a:prstGeom>
          <a:noFill/>
        </p:spPr>
        <p:txBody>
          <a:bodyPr wrap="none" lIns="0" rIns="0" tIns="0" bIns="0" anchor="ctr">
            <a:spAutoFit/>
          </a:bodyPr>
          <a:lstStyle/>
          <a:p>
            <a:pPr algn="ctr">
              <a:lnSpc>
                <a:spcPct val="110000"/>
              </a:lnSpc>
              <a:spcBef>
                <a:spcPts val="0"/>
              </a:spcBef>
              <a:spcAft>
                <a:spcPts val="0"/>
              </a:spcAft>
              <a:defRPr sz="1850" b="0">
                <a:solidFill>
                  <a:srgbClr val="000000"/>
                </a:solidFill>
                <a:latin typeface="Arial"/>
              </a:defRPr>
            </a:pPr>
            <a:r>
              <a:t>Website input or a saved message link</a:t>
            </a:r>
          </a:p>
        </p:txBody>
      </p:sp>
      <p:cxnSp>
        <p:nvCxnSpPr>
          <p:cNvPr id="7" name="Connector 6"/>
          <p:cNvCxnSpPr/>
          <p:nvPr/>
        </p:nvCxnSpPr>
        <p:spPr>
          <a:xfrm>
            <a:off x="6350000" y="2400300"/>
            <a:ext cx="0" cy="355600"/>
          </a:xfrm>
          <a:prstGeom prst="line">
            <a:avLst/>
          </a:prstGeom>
          <a:ln w="15240">
            <a:solidFill>
              <a:srgbClr val="000000"/>
            </a:solidFill>
            <a:tailEnd type="triangle" w="sm" len="sm"/>
          </a:ln>
        </p:spPr>
        <p:style>
          <a:lnRef idx="2">
            <a:schemeClr val="accent1"/>
          </a:lnRef>
          <a:fillRef idx="0">
            <a:schemeClr val="accent1"/>
          </a:fillRef>
          <a:effectRef idx="1">
            <a:schemeClr val="accent1"/>
          </a:effectRef>
          <a:fontRef idx="minor">
            <a:schemeClr val="tx1"/>
          </a:fontRef>
        </p:style>
      </p:cxnSp>
      <p:sp>
        <p:nvSpPr>
          <p:cNvPr id="8" name="Input validation and URL parsing"/>
          <p:cNvSpPr/>
          <p:nvPr/>
        </p:nvSpPr>
        <p:spPr>
          <a:xfrm>
            <a:off x="2286000" y="2755900"/>
            <a:ext cx="8128000" cy="965200"/>
          </a:xfrm>
          <a:prstGeom prst="rect">
            <a:avLst/>
          </a:prstGeom>
          <a:solidFill>
            <a:srgbClr val="FFFFFF"/>
          </a:solidFill>
          <a:ln w="15240">
            <a:solidFill>
              <a:srgbClr val="00000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Input validation and URL parsing"/>
          <p:cNvSpPr txBox="1"/>
          <p:nvPr/>
        </p:nvSpPr>
        <p:spPr>
          <a:xfrm>
            <a:off x="2413000" y="2870200"/>
            <a:ext cx="7874000" cy="342900"/>
          </a:xfrm>
          <a:prstGeom prst="rect">
            <a:avLst/>
          </a:prstGeom>
          <a:noFill/>
        </p:spPr>
        <p:txBody>
          <a:bodyPr wrap="none" lIns="0" rIns="0" tIns="0" bIns="0" anchor="ctr">
            <a:spAutoFit/>
          </a:bodyPr>
          <a:lstStyle/>
          <a:p>
            <a:pPr algn="ctr">
              <a:lnSpc>
                <a:spcPct val="110000"/>
              </a:lnSpc>
              <a:spcBef>
                <a:spcPts val="0"/>
              </a:spcBef>
              <a:spcAft>
                <a:spcPts val="0"/>
              </a:spcAft>
              <a:defRPr sz="2100" b="1">
                <a:solidFill>
                  <a:srgbClr val="000000"/>
                </a:solidFill>
                <a:latin typeface="Arial"/>
              </a:defRPr>
            </a:pPr>
            <a:r>
              <a:t>Input validation and URL parsing</a:t>
            </a:r>
          </a:p>
        </p:txBody>
      </p:sp>
      <p:sp>
        <p:nvSpPr>
          <p:cNvPr id="10" name="Normalize the address and identify host, path and query"/>
          <p:cNvSpPr txBox="1"/>
          <p:nvPr/>
        </p:nvSpPr>
        <p:spPr>
          <a:xfrm>
            <a:off x="2438400" y="3251200"/>
            <a:ext cx="7823200" cy="368300"/>
          </a:xfrm>
          <a:prstGeom prst="rect">
            <a:avLst/>
          </a:prstGeom>
          <a:noFill/>
        </p:spPr>
        <p:txBody>
          <a:bodyPr wrap="none" lIns="0" rIns="0" tIns="0" bIns="0" anchor="ctr">
            <a:spAutoFit/>
          </a:bodyPr>
          <a:lstStyle/>
          <a:p>
            <a:pPr algn="ctr">
              <a:lnSpc>
                <a:spcPct val="110000"/>
              </a:lnSpc>
              <a:spcBef>
                <a:spcPts val="0"/>
              </a:spcBef>
              <a:spcAft>
                <a:spcPts val="0"/>
              </a:spcAft>
              <a:defRPr sz="1850" b="0">
                <a:solidFill>
                  <a:srgbClr val="000000"/>
                </a:solidFill>
                <a:latin typeface="Arial"/>
              </a:defRPr>
            </a:pPr>
            <a:r>
              <a:t>Normalize the address and identify host, path and query</a:t>
            </a:r>
          </a:p>
        </p:txBody>
      </p:sp>
      <p:cxnSp>
        <p:nvCxnSpPr>
          <p:cNvPr id="11" name="Connector 10"/>
          <p:cNvCxnSpPr/>
          <p:nvPr/>
        </p:nvCxnSpPr>
        <p:spPr>
          <a:xfrm>
            <a:off x="6350000" y="3721100"/>
            <a:ext cx="0" cy="266700"/>
          </a:xfrm>
          <a:prstGeom prst="line">
            <a:avLst/>
          </a:prstGeom>
          <a:ln w="1524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527300" y="3987800"/>
            <a:ext cx="3822700" cy="0"/>
          </a:xfrm>
          <a:prstGeom prst="line">
            <a:avLst/>
          </a:prstGeom>
          <a:ln w="1524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527300" y="3987800"/>
            <a:ext cx="0" cy="368300"/>
          </a:xfrm>
          <a:prstGeom prst="line">
            <a:avLst/>
          </a:prstGeom>
          <a:ln w="15240">
            <a:solidFill>
              <a:srgbClr val="00000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350000" y="3987800"/>
            <a:ext cx="0" cy="368300"/>
          </a:xfrm>
          <a:prstGeom prst="line">
            <a:avLst/>
          </a:prstGeom>
          <a:ln w="15240">
            <a:solidFill>
              <a:srgbClr val="00000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350000" y="3987800"/>
            <a:ext cx="4089400" cy="0"/>
          </a:xfrm>
          <a:prstGeom prst="line">
            <a:avLst/>
          </a:prstGeom>
          <a:ln w="15240">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439400" y="3987800"/>
            <a:ext cx="0" cy="368300"/>
          </a:xfrm>
          <a:prstGeom prst="line">
            <a:avLst/>
          </a:prstGeom>
          <a:ln w="15240">
            <a:solidFill>
              <a:srgbClr val="000000"/>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17" name="URL text features"/>
          <p:cNvSpPr/>
          <p:nvPr/>
        </p:nvSpPr>
        <p:spPr>
          <a:xfrm>
            <a:off x="609600" y="4356100"/>
            <a:ext cx="3835400" cy="1625600"/>
          </a:xfrm>
          <a:prstGeom prst="rect">
            <a:avLst/>
          </a:prstGeom>
          <a:solidFill>
            <a:srgbClr val="FFFFFF"/>
          </a:solidFill>
          <a:ln w="15240">
            <a:solidFill>
              <a:srgbClr val="00000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URL text features"/>
          <p:cNvSpPr txBox="1"/>
          <p:nvPr/>
        </p:nvSpPr>
        <p:spPr>
          <a:xfrm>
            <a:off x="736600" y="4470400"/>
            <a:ext cx="3581400" cy="342900"/>
          </a:xfrm>
          <a:prstGeom prst="rect">
            <a:avLst/>
          </a:prstGeom>
          <a:noFill/>
        </p:spPr>
        <p:txBody>
          <a:bodyPr wrap="none" lIns="0" rIns="0" tIns="0" bIns="0" anchor="ctr">
            <a:spAutoFit/>
          </a:bodyPr>
          <a:lstStyle/>
          <a:p>
            <a:pPr algn="ctr">
              <a:lnSpc>
                <a:spcPct val="110000"/>
              </a:lnSpc>
              <a:spcBef>
                <a:spcPts val="0"/>
              </a:spcBef>
              <a:spcAft>
                <a:spcPts val="0"/>
              </a:spcAft>
              <a:defRPr sz="2100" b="1">
                <a:solidFill>
                  <a:srgbClr val="000000"/>
                </a:solidFill>
                <a:latin typeface="Arial"/>
              </a:defRPr>
            </a:pPr>
            <a:r>
              <a:t>URL text features</a:t>
            </a:r>
          </a:p>
        </p:txBody>
      </p:sp>
      <p:sp>
        <p:nvSpPr>
          <p:cNvPr id="19" name="TF-IDF representations SGDClassifier text models Primary and complementary text"/>
          <p:cNvSpPr txBox="1"/>
          <p:nvPr/>
        </p:nvSpPr>
        <p:spPr>
          <a:xfrm>
            <a:off x="762000" y="4851400"/>
            <a:ext cx="3530600" cy="1028700"/>
          </a:xfrm>
          <a:prstGeom prst="rect">
            <a:avLst/>
          </a:prstGeom>
          <a:noFill/>
        </p:spPr>
        <p:txBody>
          <a:bodyPr wrap="none" lIns="0" rIns="0" tIns="0" bIns="0" anchor="ctr">
            <a:spAutoFit/>
          </a:bodyPr>
          <a:lstStyle/>
          <a:p>
            <a:pPr algn="ctr">
              <a:lnSpc>
                <a:spcPct val="110000"/>
              </a:lnSpc>
              <a:spcBef>
                <a:spcPts val="0"/>
              </a:spcBef>
              <a:spcAft>
                <a:spcPts val="0"/>
              </a:spcAft>
              <a:defRPr sz="1750" b="0">
                <a:solidFill>
                  <a:srgbClr val="000000"/>
                </a:solidFill>
                <a:latin typeface="Arial"/>
              </a:defRPr>
            </a:pPr>
            <a:r>
              <a:t>TF-IDF representations</a:t>
            </a:r>
          </a:p>
          <a:p>
            <a:pPr algn="ctr">
              <a:lnSpc>
                <a:spcPct val="110000"/>
              </a:lnSpc>
              <a:spcBef>
                <a:spcPts val="0"/>
              </a:spcBef>
              <a:spcAft>
                <a:spcPts val="0"/>
              </a:spcAft>
              <a:defRPr sz="1750" b="0">
                <a:solidFill>
                  <a:srgbClr val="000000"/>
                </a:solidFill>
                <a:latin typeface="Arial"/>
              </a:defRPr>
            </a:pPr>
            <a:r>
              <a:t>SGDClassifier text models</a:t>
            </a:r>
          </a:p>
          <a:p>
            <a:pPr algn="ctr">
              <a:lnSpc>
                <a:spcPct val="110000"/>
              </a:lnSpc>
              <a:spcBef>
                <a:spcPts val="0"/>
              </a:spcBef>
              <a:spcAft>
                <a:spcPts val="0"/>
              </a:spcAft>
              <a:defRPr sz="1750" b="0">
                <a:solidFill>
                  <a:srgbClr val="000000"/>
                </a:solidFill>
                <a:latin typeface="Arial"/>
              </a:defRPr>
            </a:pPr>
            <a:r>
              <a:t>Primary and complementary text</a:t>
            </a:r>
          </a:p>
        </p:txBody>
      </p:sp>
      <p:sp>
        <p:nvSpPr>
          <p:cNvPr id="20" name="URL structure"/>
          <p:cNvSpPr/>
          <p:nvPr/>
        </p:nvSpPr>
        <p:spPr>
          <a:xfrm>
            <a:off x="4699000" y="4356100"/>
            <a:ext cx="3302000" cy="1625600"/>
          </a:xfrm>
          <a:prstGeom prst="rect">
            <a:avLst/>
          </a:prstGeom>
          <a:solidFill>
            <a:srgbClr val="FFFFFF"/>
          </a:solidFill>
          <a:ln w="15240">
            <a:solidFill>
              <a:srgbClr val="00000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URL structure"/>
          <p:cNvSpPr txBox="1"/>
          <p:nvPr/>
        </p:nvSpPr>
        <p:spPr>
          <a:xfrm>
            <a:off x="4826000" y="4470400"/>
            <a:ext cx="3048000" cy="342900"/>
          </a:xfrm>
          <a:prstGeom prst="rect">
            <a:avLst/>
          </a:prstGeom>
          <a:noFill/>
        </p:spPr>
        <p:txBody>
          <a:bodyPr wrap="none" lIns="0" rIns="0" tIns="0" bIns="0" anchor="ctr">
            <a:spAutoFit/>
          </a:bodyPr>
          <a:lstStyle/>
          <a:p>
            <a:pPr algn="ctr">
              <a:lnSpc>
                <a:spcPct val="110000"/>
              </a:lnSpc>
              <a:spcBef>
                <a:spcPts val="0"/>
              </a:spcBef>
              <a:spcAft>
                <a:spcPts val="0"/>
              </a:spcAft>
              <a:defRPr sz="2100" b="1">
                <a:solidFill>
                  <a:srgbClr val="000000"/>
                </a:solidFill>
                <a:latin typeface="Arial"/>
              </a:defRPr>
            </a:pPr>
            <a:r>
              <a:t>URL structure</a:t>
            </a:r>
          </a:p>
        </p:txBody>
      </p:sp>
      <p:sp>
        <p:nvSpPr>
          <p:cNvPr id="22" name="30 lexical structure features Host, path and query patterns LightGBM classifier"/>
          <p:cNvSpPr txBox="1"/>
          <p:nvPr/>
        </p:nvSpPr>
        <p:spPr>
          <a:xfrm>
            <a:off x="4851400" y="4851400"/>
            <a:ext cx="2997200" cy="1028700"/>
          </a:xfrm>
          <a:prstGeom prst="rect">
            <a:avLst/>
          </a:prstGeom>
          <a:noFill/>
        </p:spPr>
        <p:txBody>
          <a:bodyPr wrap="none" lIns="0" rIns="0" tIns="0" bIns="0" anchor="ctr">
            <a:spAutoFit/>
          </a:bodyPr>
          <a:lstStyle/>
          <a:p>
            <a:pPr algn="ctr">
              <a:lnSpc>
                <a:spcPct val="110000"/>
              </a:lnSpc>
              <a:spcBef>
                <a:spcPts val="0"/>
              </a:spcBef>
              <a:spcAft>
                <a:spcPts val="0"/>
              </a:spcAft>
              <a:defRPr sz="1750" b="0">
                <a:solidFill>
                  <a:srgbClr val="000000"/>
                </a:solidFill>
                <a:latin typeface="Arial"/>
              </a:defRPr>
            </a:pPr>
            <a:r>
              <a:t>30 lexical structure features</a:t>
            </a:r>
          </a:p>
          <a:p>
            <a:pPr algn="ctr">
              <a:lnSpc>
                <a:spcPct val="110000"/>
              </a:lnSpc>
              <a:spcBef>
                <a:spcPts val="0"/>
              </a:spcBef>
              <a:spcAft>
                <a:spcPts val="0"/>
              </a:spcAft>
              <a:defRPr sz="1750" b="0">
                <a:solidFill>
                  <a:srgbClr val="000000"/>
                </a:solidFill>
                <a:latin typeface="Arial"/>
              </a:defRPr>
            </a:pPr>
            <a:r>
              <a:t>Host, path and query patterns</a:t>
            </a:r>
          </a:p>
          <a:p>
            <a:pPr algn="ctr">
              <a:lnSpc>
                <a:spcPct val="110000"/>
              </a:lnSpc>
              <a:spcBef>
                <a:spcPts val="0"/>
              </a:spcBef>
              <a:spcAft>
                <a:spcPts val="0"/>
              </a:spcAft>
              <a:defRPr sz="1750" b="0">
                <a:solidFill>
                  <a:srgbClr val="000000"/>
                </a:solidFill>
                <a:latin typeface="Arial"/>
              </a:defRPr>
            </a:pPr>
            <a:r>
              <a:t>LightGBM classifier</a:t>
            </a:r>
          </a:p>
        </p:txBody>
      </p:sp>
      <p:sp>
        <p:nvSpPr>
          <p:cNvPr id="23" name="Optional live inspection"/>
          <p:cNvSpPr/>
          <p:nvPr/>
        </p:nvSpPr>
        <p:spPr>
          <a:xfrm>
            <a:off x="8788400" y="4356100"/>
            <a:ext cx="3302000" cy="1282700"/>
          </a:xfrm>
          <a:prstGeom prst="rect">
            <a:avLst/>
          </a:prstGeom>
          <a:solidFill>
            <a:srgbClr val="FFFFFF"/>
          </a:solidFill>
          <a:ln w="15240">
            <a:solidFill>
              <a:srgbClr val="000000"/>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Optional live inspection"/>
          <p:cNvSpPr txBox="1"/>
          <p:nvPr/>
        </p:nvSpPr>
        <p:spPr>
          <a:xfrm>
            <a:off x="8915400" y="4470400"/>
            <a:ext cx="3048000" cy="342900"/>
          </a:xfrm>
          <a:prstGeom prst="rect">
            <a:avLst/>
          </a:prstGeom>
          <a:noFill/>
        </p:spPr>
        <p:txBody>
          <a:bodyPr wrap="none" lIns="0" rIns="0" tIns="0" bIns="0" anchor="ctr">
            <a:spAutoFit/>
          </a:bodyPr>
          <a:lstStyle/>
          <a:p>
            <a:pPr algn="ctr">
              <a:lnSpc>
                <a:spcPct val="110000"/>
              </a:lnSpc>
              <a:spcBef>
                <a:spcPts val="0"/>
              </a:spcBef>
              <a:spcAft>
                <a:spcPts val="0"/>
              </a:spcAft>
              <a:defRPr sz="2100" b="1">
                <a:solidFill>
                  <a:srgbClr val="000000"/>
                </a:solidFill>
                <a:latin typeface="Arial"/>
              </a:defRPr>
            </a:pPr>
            <a:r>
              <a:t>Optional live inspection</a:t>
            </a:r>
          </a:p>
        </p:txBody>
      </p:sp>
      <p:sp>
        <p:nvSpPr>
          <p:cNvPr id="25" name="Standalone website check or explicit Inspect this URL"/>
          <p:cNvSpPr txBox="1"/>
          <p:nvPr/>
        </p:nvSpPr>
        <p:spPr>
          <a:xfrm>
            <a:off x="8940800" y="4851400"/>
            <a:ext cx="2997200" cy="685800"/>
          </a:xfrm>
          <a:prstGeom prst="rect">
            <a:avLst/>
          </a:prstGeom>
          <a:noFill/>
        </p:spPr>
        <p:txBody>
          <a:bodyPr wrap="none" lIns="0" rIns="0" tIns="0" bIns="0" anchor="ctr">
            <a:spAutoFit/>
          </a:bodyPr>
          <a:lstStyle/>
          <a:p>
            <a:pPr algn="ctr">
              <a:lnSpc>
                <a:spcPct val="110000"/>
              </a:lnSpc>
              <a:spcBef>
                <a:spcPts val="0"/>
              </a:spcBef>
              <a:spcAft>
                <a:spcPts val="0"/>
              </a:spcAft>
              <a:defRPr sz="1750" b="0">
                <a:solidFill>
                  <a:srgbClr val="000000"/>
                </a:solidFill>
                <a:latin typeface="Arial"/>
              </a:defRPr>
            </a:pPr>
            <a:r>
              <a:t>Standalone website check</a:t>
            </a:r>
          </a:p>
          <a:p>
            <a:pPr algn="ctr">
              <a:lnSpc>
                <a:spcPct val="110000"/>
              </a:lnSpc>
              <a:spcBef>
                <a:spcPts val="0"/>
              </a:spcBef>
              <a:spcAft>
                <a:spcPts val="0"/>
              </a:spcAft>
              <a:defRPr sz="1750" b="0">
                <a:solidFill>
                  <a:srgbClr val="000000"/>
                </a:solidFill>
                <a:latin typeface="Arial"/>
              </a:defRPr>
            </a:pPr>
            <a:r>
              <a:t>or explicit Inspect this URL</a:t>
            </a:r>
          </a:p>
        </p:txBody>
      </p:sp>
      <p:cxnSp>
        <p:nvCxnSpPr>
          <p:cNvPr id="26" name="Connector 25"/>
          <p:cNvCxnSpPr/>
          <p:nvPr/>
        </p:nvCxnSpPr>
        <p:spPr>
          <a:xfrm>
            <a:off x="2527300" y="5981700"/>
            <a:ext cx="0" cy="317500"/>
          </a:xfrm>
          <a:prstGeom prst="line">
            <a:avLst/>
          </a:prstGeom>
          <a:ln w="1524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350000" y="5981700"/>
            <a:ext cx="0" cy="317500"/>
          </a:xfrm>
          <a:prstGeom prst="line">
            <a:avLst/>
          </a:prstGeom>
          <a:ln w="1524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527300" y="6299200"/>
            <a:ext cx="3822700" cy="0"/>
          </a:xfrm>
          <a:prstGeom prst="line">
            <a:avLst/>
          </a:prstGeom>
          <a:ln w="1524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305300" y="6299200"/>
            <a:ext cx="0" cy="330200"/>
          </a:xfrm>
          <a:prstGeom prst="line">
            <a:avLst/>
          </a:prstGeom>
          <a:ln w="15240">
            <a:solidFill>
              <a:srgbClr val="000000"/>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Baseline and correction experts"/>
          <p:cNvSpPr/>
          <p:nvPr/>
        </p:nvSpPr>
        <p:spPr>
          <a:xfrm>
            <a:off x="609600" y="6629400"/>
            <a:ext cx="7391400" cy="1524000"/>
          </a:xfrm>
          <a:prstGeom prst="rect">
            <a:avLst/>
          </a:prstGeom>
          <a:solidFill>
            <a:srgbClr val="FFFFFF"/>
          </a:solidFill>
          <a:ln w="15240">
            <a:solidFill>
              <a:srgbClr val="00000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Baseline and correction experts"/>
          <p:cNvSpPr txBox="1"/>
          <p:nvPr/>
        </p:nvSpPr>
        <p:spPr>
          <a:xfrm>
            <a:off x="736600" y="6743700"/>
            <a:ext cx="7137400" cy="342900"/>
          </a:xfrm>
          <a:prstGeom prst="rect">
            <a:avLst/>
          </a:prstGeom>
          <a:noFill/>
        </p:spPr>
        <p:txBody>
          <a:bodyPr wrap="none" lIns="0" rIns="0" tIns="0" bIns="0" anchor="ctr">
            <a:spAutoFit/>
          </a:bodyPr>
          <a:lstStyle/>
          <a:p>
            <a:pPr algn="ctr">
              <a:lnSpc>
                <a:spcPct val="110000"/>
              </a:lnSpc>
              <a:spcBef>
                <a:spcPts val="0"/>
              </a:spcBef>
              <a:spcAft>
                <a:spcPts val="0"/>
              </a:spcAft>
              <a:defRPr sz="2100" b="1">
                <a:solidFill>
                  <a:srgbClr val="000000"/>
                </a:solidFill>
                <a:latin typeface="Arial"/>
              </a:defRPr>
            </a:pPr>
            <a:r>
              <a:t>Baseline and correction experts</a:t>
            </a:r>
          </a:p>
        </p:txBody>
      </p:sp>
      <p:sp>
        <p:nvSpPr>
          <p:cNvPr id="32" name="Gradient boosted score fusion Correction uses base, complementary and structural signals Isotonic calibration within eac"/>
          <p:cNvSpPr txBox="1"/>
          <p:nvPr/>
        </p:nvSpPr>
        <p:spPr>
          <a:xfrm>
            <a:off x="762000" y="7124700"/>
            <a:ext cx="7086600" cy="927100"/>
          </a:xfrm>
          <a:prstGeom prst="rect">
            <a:avLst/>
          </a:prstGeom>
          <a:noFill/>
        </p:spPr>
        <p:txBody>
          <a:bodyPr wrap="none" lIns="0" rIns="0" tIns="0" bIns="0" anchor="ctr">
            <a:spAutoFit/>
          </a:bodyPr>
          <a:lstStyle/>
          <a:p>
            <a:pPr algn="ctr">
              <a:lnSpc>
                <a:spcPct val="110000"/>
              </a:lnSpc>
              <a:spcBef>
                <a:spcPts val="0"/>
              </a:spcBef>
              <a:spcAft>
                <a:spcPts val="0"/>
              </a:spcAft>
              <a:defRPr sz="1800" b="0">
                <a:solidFill>
                  <a:srgbClr val="000000"/>
                </a:solidFill>
                <a:latin typeface="Arial"/>
              </a:defRPr>
            </a:pPr>
            <a:r>
              <a:t>Gradient boosted score fusion</a:t>
            </a:r>
          </a:p>
          <a:p>
            <a:pPr algn="ctr">
              <a:lnSpc>
                <a:spcPct val="110000"/>
              </a:lnSpc>
              <a:spcBef>
                <a:spcPts val="0"/>
              </a:spcBef>
              <a:spcAft>
                <a:spcPts val="0"/>
              </a:spcAft>
              <a:defRPr sz="1800" b="0">
                <a:solidFill>
                  <a:srgbClr val="000000"/>
                </a:solidFill>
                <a:latin typeface="Arial"/>
              </a:defRPr>
            </a:pPr>
            <a:r>
              <a:t>Correction uses base, complementary and structural signals</a:t>
            </a:r>
          </a:p>
          <a:p>
            <a:pPr algn="ctr">
              <a:lnSpc>
                <a:spcPct val="110000"/>
              </a:lnSpc>
              <a:spcBef>
                <a:spcPts val="0"/>
              </a:spcBef>
              <a:spcAft>
                <a:spcPts val="0"/>
              </a:spcAft>
              <a:defRPr sz="1800" b="0">
                <a:solidFill>
                  <a:srgbClr val="000000"/>
                </a:solidFill>
                <a:latin typeface="Arial"/>
              </a:defRPr>
            </a:pPr>
            <a:r>
              <a:t>Isotonic calibration within each expert</a:t>
            </a:r>
          </a:p>
        </p:txBody>
      </p:sp>
      <p:cxnSp>
        <p:nvCxnSpPr>
          <p:cNvPr id="33" name="Connector 32"/>
          <p:cNvCxnSpPr/>
          <p:nvPr/>
        </p:nvCxnSpPr>
        <p:spPr>
          <a:xfrm>
            <a:off x="4305300" y="8153400"/>
            <a:ext cx="0" cy="520700"/>
          </a:xfrm>
          <a:prstGeom prst="line">
            <a:avLst/>
          </a:prstGeom>
          <a:ln w="15240">
            <a:solidFill>
              <a:srgbClr val="000000"/>
            </a:solidFill>
            <a:tailEnd type="triangle" w="sm" len="sm"/>
          </a:ln>
        </p:spPr>
        <p:style>
          <a:lnRef idx="2">
            <a:schemeClr val="accent1"/>
          </a:lnRef>
          <a:fillRef idx="0">
            <a:schemeClr val="accent1"/>
          </a:fillRef>
          <a:effectRef idx="1">
            <a:schemeClr val="accent1"/>
          </a:effectRef>
          <a:fontRef idx="minor">
            <a:schemeClr val="tx1"/>
          </a:fontRef>
        </p:style>
      </p:cxnSp>
      <p:sp>
        <p:nvSpPr>
          <p:cNvPr id="34" name="URL shape routing and alert rescue"/>
          <p:cNvSpPr/>
          <p:nvPr/>
        </p:nvSpPr>
        <p:spPr>
          <a:xfrm>
            <a:off x="609600" y="8674100"/>
            <a:ext cx="7391400" cy="1524000"/>
          </a:xfrm>
          <a:prstGeom prst="rect">
            <a:avLst/>
          </a:prstGeom>
          <a:solidFill>
            <a:srgbClr val="FFFFFF"/>
          </a:solidFill>
          <a:ln w="15240">
            <a:solidFill>
              <a:srgbClr val="00000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URL shape routing and alert rescue"/>
          <p:cNvSpPr txBox="1"/>
          <p:nvPr/>
        </p:nvSpPr>
        <p:spPr>
          <a:xfrm>
            <a:off x="736600" y="8788400"/>
            <a:ext cx="7137400" cy="342900"/>
          </a:xfrm>
          <a:prstGeom prst="rect">
            <a:avLst/>
          </a:prstGeom>
          <a:noFill/>
        </p:spPr>
        <p:txBody>
          <a:bodyPr wrap="none" lIns="0" rIns="0" tIns="0" bIns="0" anchor="ctr">
            <a:spAutoFit/>
          </a:bodyPr>
          <a:lstStyle/>
          <a:p>
            <a:pPr algn="ctr">
              <a:lnSpc>
                <a:spcPct val="110000"/>
              </a:lnSpc>
              <a:spcBef>
                <a:spcPts val="0"/>
              </a:spcBef>
              <a:spcAft>
                <a:spcPts val="0"/>
              </a:spcAft>
              <a:defRPr sz="2100" b="1">
                <a:solidFill>
                  <a:srgbClr val="000000"/>
                </a:solidFill>
                <a:latin typeface="Arial"/>
              </a:defRPr>
            </a:pPr>
            <a:r>
              <a:t>URL shape routing and alert rescue</a:t>
            </a:r>
          </a:p>
        </p:txBody>
      </p:sp>
      <p:sp>
        <p:nvSpPr>
          <p:cNvPr id="36" name="Choose the expert for root, query or path URLs Apply versioned decision boundaries A second expert may add an alert"/>
          <p:cNvSpPr txBox="1"/>
          <p:nvPr/>
        </p:nvSpPr>
        <p:spPr>
          <a:xfrm>
            <a:off x="762000" y="9169400"/>
            <a:ext cx="7086600" cy="927100"/>
          </a:xfrm>
          <a:prstGeom prst="rect">
            <a:avLst/>
          </a:prstGeom>
          <a:noFill/>
        </p:spPr>
        <p:txBody>
          <a:bodyPr wrap="none" lIns="0" rIns="0" tIns="0" bIns="0" anchor="ctr">
            <a:spAutoFit/>
          </a:bodyPr>
          <a:lstStyle/>
          <a:p>
            <a:pPr algn="ctr">
              <a:lnSpc>
                <a:spcPct val="110000"/>
              </a:lnSpc>
              <a:spcBef>
                <a:spcPts val="0"/>
              </a:spcBef>
              <a:spcAft>
                <a:spcPts val="0"/>
              </a:spcAft>
              <a:defRPr sz="1850" b="0">
                <a:solidFill>
                  <a:srgbClr val="000000"/>
                </a:solidFill>
                <a:latin typeface="Arial"/>
              </a:defRPr>
            </a:pPr>
            <a:r>
              <a:t>Choose the expert for root, query or path URLs</a:t>
            </a:r>
          </a:p>
          <a:p>
            <a:pPr algn="ctr">
              <a:lnSpc>
                <a:spcPct val="110000"/>
              </a:lnSpc>
              <a:spcBef>
                <a:spcPts val="0"/>
              </a:spcBef>
              <a:spcAft>
                <a:spcPts val="0"/>
              </a:spcAft>
              <a:defRPr sz="1850" b="0">
                <a:solidFill>
                  <a:srgbClr val="000000"/>
                </a:solidFill>
                <a:latin typeface="Arial"/>
              </a:defRPr>
            </a:pPr>
            <a:r>
              <a:t>Apply versioned decision boundaries</a:t>
            </a:r>
          </a:p>
          <a:p>
            <a:pPr algn="ctr">
              <a:lnSpc>
                <a:spcPct val="110000"/>
              </a:lnSpc>
              <a:spcBef>
                <a:spcPts val="0"/>
              </a:spcBef>
              <a:spcAft>
                <a:spcPts val="0"/>
              </a:spcAft>
              <a:defRPr sz="1850" b="0">
                <a:solidFill>
                  <a:srgbClr val="000000"/>
                </a:solidFill>
                <a:latin typeface="Arial"/>
              </a:defRPr>
            </a:pPr>
            <a:r>
              <a:t>A second expert may add an alert</a:t>
            </a:r>
          </a:p>
        </p:txBody>
      </p:sp>
      <p:cxnSp>
        <p:nvCxnSpPr>
          <p:cNvPr id="37" name="Connector 36"/>
          <p:cNvCxnSpPr/>
          <p:nvPr/>
        </p:nvCxnSpPr>
        <p:spPr>
          <a:xfrm>
            <a:off x="4305300" y="10198100"/>
            <a:ext cx="0" cy="520700"/>
          </a:xfrm>
          <a:prstGeom prst="line">
            <a:avLst/>
          </a:prstGeom>
          <a:ln w="15240">
            <a:solidFill>
              <a:srgbClr val="000000"/>
            </a:solidFill>
            <a:tailEnd type="triangle" w="sm" len="sm"/>
          </a:ln>
        </p:spPr>
        <p:style>
          <a:lnRef idx="2">
            <a:schemeClr val="accent1"/>
          </a:lnRef>
          <a:fillRef idx="0">
            <a:schemeClr val="accent1"/>
          </a:fillRef>
          <a:effectRef idx="1">
            <a:schemeClr val="accent1"/>
          </a:effectRef>
          <a:fontRef idx="minor">
            <a:schemeClr val="tx1"/>
          </a:fontRef>
        </p:style>
      </p:cxnSp>
      <p:sp>
        <p:nvSpPr>
          <p:cNvPr id="38" name="Local link checks and URL risk policy"/>
          <p:cNvSpPr/>
          <p:nvPr/>
        </p:nvSpPr>
        <p:spPr>
          <a:xfrm>
            <a:off x="609600" y="10718800"/>
            <a:ext cx="7391400" cy="1219200"/>
          </a:xfrm>
          <a:prstGeom prst="rect">
            <a:avLst/>
          </a:prstGeom>
          <a:solidFill>
            <a:srgbClr val="FFFFFF"/>
          </a:solidFill>
          <a:ln w="15240">
            <a:solidFill>
              <a:srgbClr val="00000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Local link checks and URL risk policy"/>
          <p:cNvSpPr txBox="1"/>
          <p:nvPr/>
        </p:nvSpPr>
        <p:spPr>
          <a:xfrm>
            <a:off x="736600" y="10833100"/>
            <a:ext cx="7137400" cy="342900"/>
          </a:xfrm>
          <a:prstGeom prst="rect">
            <a:avLst/>
          </a:prstGeom>
          <a:noFill/>
        </p:spPr>
        <p:txBody>
          <a:bodyPr wrap="none" lIns="0" rIns="0" tIns="0" bIns="0" anchor="ctr">
            <a:spAutoFit/>
          </a:bodyPr>
          <a:lstStyle/>
          <a:p>
            <a:pPr algn="ctr">
              <a:lnSpc>
                <a:spcPct val="110000"/>
              </a:lnSpc>
              <a:spcBef>
                <a:spcPts val="0"/>
              </a:spcBef>
              <a:spcAft>
                <a:spcPts val="0"/>
              </a:spcAft>
              <a:defRPr sz="2100" b="1">
                <a:solidFill>
                  <a:srgbClr val="000000"/>
                </a:solidFill>
                <a:latin typeface="Arial"/>
              </a:defRPr>
            </a:pPr>
            <a:r>
              <a:t>Local link checks and URL risk policy</a:t>
            </a:r>
          </a:p>
        </p:txBody>
      </p:sp>
      <p:sp>
        <p:nvSpPr>
          <p:cNvPr id="40" name="Domain and lookalike indicators, user-info and link form Combine model assessment with recorded rule findings"/>
          <p:cNvSpPr txBox="1"/>
          <p:nvPr/>
        </p:nvSpPr>
        <p:spPr>
          <a:xfrm>
            <a:off x="762000" y="11214100"/>
            <a:ext cx="7086600" cy="622300"/>
          </a:xfrm>
          <a:prstGeom prst="rect">
            <a:avLst/>
          </a:prstGeom>
          <a:noFill/>
        </p:spPr>
        <p:txBody>
          <a:bodyPr wrap="none" lIns="0" rIns="0" tIns="0" bIns="0" anchor="ctr">
            <a:spAutoFit/>
          </a:bodyPr>
          <a:lstStyle/>
          <a:p>
            <a:pPr algn="ctr">
              <a:lnSpc>
                <a:spcPct val="110000"/>
              </a:lnSpc>
              <a:spcBef>
                <a:spcPts val="0"/>
              </a:spcBef>
              <a:spcAft>
                <a:spcPts val="0"/>
              </a:spcAft>
              <a:defRPr sz="1800" b="0">
                <a:solidFill>
                  <a:srgbClr val="000000"/>
                </a:solidFill>
                <a:latin typeface="Arial"/>
              </a:defRPr>
            </a:pPr>
            <a:r>
              <a:t>Domain and lookalike indicators, user-info and link form</a:t>
            </a:r>
          </a:p>
          <a:p>
            <a:pPr algn="ctr">
              <a:lnSpc>
                <a:spcPct val="110000"/>
              </a:lnSpc>
              <a:spcBef>
                <a:spcPts val="0"/>
              </a:spcBef>
              <a:spcAft>
                <a:spcPts val="0"/>
              </a:spcAft>
              <a:defRPr sz="1800" b="0">
                <a:solidFill>
                  <a:srgbClr val="000000"/>
                </a:solidFill>
                <a:latin typeface="Arial"/>
              </a:defRPr>
            </a:pPr>
            <a:r>
              <a:t>Combine model assessment with recorded rule findings</a:t>
            </a:r>
          </a:p>
        </p:txBody>
      </p:sp>
      <p:cxnSp>
        <p:nvCxnSpPr>
          <p:cNvPr id="41" name="Connector 40"/>
          <p:cNvCxnSpPr/>
          <p:nvPr/>
        </p:nvCxnSpPr>
        <p:spPr>
          <a:xfrm>
            <a:off x="10439400" y="5638800"/>
            <a:ext cx="0" cy="584200"/>
          </a:xfrm>
          <a:prstGeom prst="line">
            <a:avLst/>
          </a:prstGeom>
          <a:ln w="15240">
            <a:solidFill>
              <a:srgbClr val="000000"/>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42" name="Protected collector"/>
          <p:cNvSpPr/>
          <p:nvPr/>
        </p:nvSpPr>
        <p:spPr>
          <a:xfrm>
            <a:off x="8788400" y="6223000"/>
            <a:ext cx="3302000" cy="1854200"/>
          </a:xfrm>
          <a:prstGeom prst="rect">
            <a:avLst/>
          </a:prstGeom>
          <a:solidFill>
            <a:srgbClr val="FFFFFF"/>
          </a:solidFill>
          <a:ln w="15240">
            <a:solidFill>
              <a:srgbClr val="000000"/>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Protected collector"/>
          <p:cNvSpPr txBox="1"/>
          <p:nvPr/>
        </p:nvSpPr>
        <p:spPr>
          <a:xfrm>
            <a:off x="8915400" y="6337300"/>
            <a:ext cx="3048000" cy="342900"/>
          </a:xfrm>
          <a:prstGeom prst="rect">
            <a:avLst/>
          </a:prstGeom>
          <a:noFill/>
        </p:spPr>
        <p:txBody>
          <a:bodyPr wrap="none" lIns="0" rIns="0" tIns="0" bIns="0" anchor="ctr">
            <a:spAutoFit/>
          </a:bodyPr>
          <a:lstStyle/>
          <a:p>
            <a:pPr algn="ctr">
              <a:lnSpc>
                <a:spcPct val="110000"/>
              </a:lnSpc>
              <a:spcBef>
                <a:spcPts val="0"/>
              </a:spcBef>
              <a:spcAft>
                <a:spcPts val="0"/>
              </a:spcAft>
              <a:defRPr sz="2100" b="1">
                <a:solidFill>
                  <a:srgbClr val="000000"/>
                </a:solidFill>
                <a:latin typeface="Arial"/>
              </a:defRPr>
            </a:pPr>
            <a:r>
              <a:t>Protected collector</a:t>
            </a:r>
          </a:p>
        </p:txBody>
      </p:sp>
      <p:sp>
        <p:nvSpPr>
          <p:cNvPr id="44" name="Public destination checks DNS and IP validation TLS verification Bounded redirects and HTML"/>
          <p:cNvSpPr txBox="1"/>
          <p:nvPr/>
        </p:nvSpPr>
        <p:spPr>
          <a:xfrm>
            <a:off x="8940800" y="6718300"/>
            <a:ext cx="2997200" cy="1257300"/>
          </a:xfrm>
          <a:prstGeom prst="rect">
            <a:avLst/>
          </a:prstGeom>
          <a:noFill/>
        </p:spPr>
        <p:txBody>
          <a:bodyPr wrap="none" lIns="0" rIns="0" tIns="0" bIns="0" anchor="ctr">
            <a:spAutoFit/>
          </a:bodyPr>
          <a:lstStyle/>
          <a:p>
            <a:pPr algn="ctr">
              <a:lnSpc>
                <a:spcPct val="110000"/>
              </a:lnSpc>
              <a:spcBef>
                <a:spcPts val="0"/>
              </a:spcBef>
              <a:spcAft>
                <a:spcPts val="0"/>
              </a:spcAft>
              <a:defRPr sz="1750" b="0">
                <a:solidFill>
                  <a:srgbClr val="000000"/>
                </a:solidFill>
                <a:latin typeface="Arial"/>
              </a:defRPr>
            </a:pPr>
            <a:r>
              <a:t>Public destination checks</a:t>
            </a:r>
          </a:p>
          <a:p>
            <a:pPr algn="ctr">
              <a:lnSpc>
                <a:spcPct val="110000"/>
              </a:lnSpc>
              <a:spcBef>
                <a:spcPts val="0"/>
              </a:spcBef>
              <a:spcAft>
                <a:spcPts val="0"/>
              </a:spcAft>
              <a:defRPr sz="1750" b="0">
                <a:solidFill>
                  <a:srgbClr val="000000"/>
                </a:solidFill>
                <a:latin typeface="Arial"/>
              </a:defRPr>
            </a:pPr>
            <a:r>
              <a:t>DNS and IP validation</a:t>
            </a:r>
          </a:p>
          <a:p>
            <a:pPr algn="ctr">
              <a:lnSpc>
                <a:spcPct val="110000"/>
              </a:lnSpc>
              <a:spcBef>
                <a:spcPts val="0"/>
              </a:spcBef>
              <a:spcAft>
                <a:spcPts val="0"/>
              </a:spcAft>
              <a:defRPr sz="1750" b="0">
                <a:solidFill>
                  <a:srgbClr val="000000"/>
                </a:solidFill>
                <a:latin typeface="Arial"/>
              </a:defRPr>
            </a:pPr>
            <a:r>
              <a:t>TLS verification</a:t>
            </a:r>
          </a:p>
          <a:p>
            <a:pPr algn="ctr">
              <a:lnSpc>
                <a:spcPct val="110000"/>
              </a:lnSpc>
              <a:spcBef>
                <a:spcPts val="0"/>
              </a:spcBef>
              <a:spcAft>
                <a:spcPts val="0"/>
              </a:spcAft>
              <a:defRPr sz="1750" b="0">
                <a:solidFill>
                  <a:srgbClr val="000000"/>
                </a:solidFill>
                <a:latin typeface="Arial"/>
              </a:defRPr>
            </a:pPr>
            <a:r>
              <a:t>Bounded redirects and HTML</a:t>
            </a:r>
          </a:p>
        </p:txBody>
      </p:sp>
      <p:cxnSp>
        <p:nvCxnSpPr>
          <p:cNvPr id="45" name="Connector 44"/>
          <p:cNvCxnSpPr/>
          <p:nvPr/>
        </p:nvCxnSpPr>
        <p:spPr>
          <a:xfrm>
            <a:off x="10439400" y="8077200"/>
            <a:ext cx="0" cy="596900"/>
          </a:xfrm>
          <a:prstGeom prst="line">
            <a:avLst/>
          </a:prstGeom>
          <a:ln w="15240">
            <a:solidFill>
              <a:srgbClr val="000000"/>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46" name="Website observations"/>
          <p:cNvSpPr/>
          <p:nvPr/>
        </p:nvSpPr>
        <p:spPr>
          <a:xfrm>
            <a:off x="8788400" y="8674100"/>
            <a:ext cx="3302000" cy="1854200"/>
          </a:xfrm>
          <a:prstGeom prst="rect">
            <a:avLst/>
          </a:prstGeom>
          <a:solidFill>
            <a:srgbClr val="FFFFFF"/>
          </a:solidFill>
          <a:ln w="15240">
            <a:solidFill>
              <a:srgbClr val="000000"/>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Website observations"/>
          <p:cNvSpPr txBox="1"/>
          <p:nvPr/>
        </p:nvSpPr>
        <p:spPr>
          <a:xfrm>
            <a:off x="8915400" y="8788400"/>
            <a:ext cx="3048000" cy="342900"/>
          </a:xfrm>
          <a:prstGeom prst="rect">
            <a:avLst/>
          </a:prstGeom>
          <a:noFill/>
        </p:spPr>
        <p:txBody>
          <a:bodyPr wrap="none" lIns="0" rIns="0" tIns="0" bIns="0" anchor="ctr">
            <a:spAutoFit/>
          </a:bodyPr>
          <a:lstStyle/>
          <a:p>
            <a:pPr algn="ctr">
              <a:lnSpc>
                <a:spcPct val="110000"/>
              </a:lnSpc>
              <a:spcBef>
                <a:spcPts val="0"/>
              </a:spcBef>
              <a:spcAft>
                <a:spcPts val="0"/>
              </a:spcAft>
              <a:defRPr sz="2100" b="1">
                <a:solidFill>
                  <a:srgbClr val="000000"/>
                </a:solidFill>
                <a:latin typeface="Arial"/>
              </a:defRPr>
            </a:pPr>
            <a:r>
              <a:t>Website observations</a:t>
            </a:r>
          </a:p>
        </p:txBody>
      </p:sp>
      <p:sp>
        <p:nvSpPr>
          <p:cNvPr id="48" name="Domain and resolved IPs Certificate and redirect details Static page and form evidence Registration and threat reports"/>
          <p:cNvSpPr txBox="1"/>
          <p:nvPr/>
        </p:nvSpPr>
        <p:spPr>
          <a:xfrm>
            <a:off x="8940800" y="9169400"/>
            <a:ext cx="2997200" cy="1257300"/>
          </a:xfrm>
          <a:prstGeom prst="rect">
            <a:avLst/>
          </a:prstGeom>
          <a:noFill/>
        </p:spPr>
        <p:txBody>
          <a:bodyPr wrap="none" lIns="0" rIns="0" tIns="0" bIns="0" anchor="ctr">
            <a:spAutoFit/>
          </a:bodyPr>
          <a:lstStyle/>
          <a:p>
            <a:pPr algn="ctr">
              <a:lnSpc>
                <a:spcPct val="110000"/>
              </a:lnSpc>
              <a:spcBef>
                <a:spcPts val="0"/>
              </a:spcBef>
              <a:spcAft>
                <a:spcPts val="0"/>
              </a:spcAft>
              <a:defRPr sz="1700" b="0">
                <a:solidFill>
                  <a:srgbClr val="000000"/>
                </a:solidFill>
                <a:latin typeface="Arial"/>
              </a:defRPr>
            </a:pPr>
            <a:r>
              <a:t>Domain and resolved IPs</a:t>
            </a:r>
          </a:p>
          <a:p>
            <a:pPr algn="ctr">
              <a:lnSpc>
                <a:spcPct val="110000"/>
              </a:lnSpc>
              <a:spcBef>
                <a:spcPts val="0"/>
              </a:spcBef>
              <a:spcAft>
                <a:spcPts val="0"/>
              </a:spcAft>
              <a:defRPr sz="1700" b="0">
                <a:solidFill>
                  <a:srgbClr val="000000"/>
                </a:solidFill>
                <a:latin typeface="Arial"/>
              </a:defRPr>
            </a:pPr>
            <a:r>
              <a:t>Certificate and redirect details</a:t>
            </a:r>
          </a:p>
          <a:p>
            <a:pPr algn="ctr">
              <a:lnSpc>
                <a:spcPct val="110000"/>
              </a:lnSpc>
              <a:spcBef>
                <a:spcPts val="0"/>
              </a:spcBef>
              <a:spcAft>
                <a:spcPts val="0"/>
              </a:spcAft>
              <a:defRPr sz="1700" b="0">
                <a:solidFill>
                  <a:srgbClr val="000000"/>
                </a:solidFill>
                <a:latin typeface="Arial"/>
              </a:defRPr>
            </a:pPr>
            <a:r>
              <a:t>Static page and form evidence</a:t>
            </a:r>
          </a:p>
          <a:p>
            <a:pPr algn="ctr">
              <a:lnSpc>
                <a:spcPct val="110000"/>
              </a:lnSpc>
              <a:spcBef>
                <a:spcPts val="0"/>
              </a:spcBef>
              <a:spcAft>
                <a:spcPts val="0"/>
              </a:spcAft>
              <a:defRPr sz="1700" b="0">
                <a:solidFill>
                  <a:srgbClr val="000000"/>
                </a:solidFill>
                <a:latin typeface="Arial"/>
              </a:defRPr>
            </a:pPr>
            <a:r>
              <a:t>Registration and threat reports</a:t>
            </a:r>
          </a:p>
        </p:txBody>
      </p:sp>
      <p:cxnSp>
        <p:nvCxnSpPr>
          <p:cNvPr id="49" name="Connector 48"/>
          <p:cNvCxnSpPr/>
          <p:nvPr/>
        </p:nvCxnSpPr>
        <p:spPr>
          <a:xfrm>
            <a:off x="10439400" y="10528300"/>
            <a:ext cx="0" cy="304800"/>
          </a:xfrm>
          <a:prstGeom prst="line">
            <a:avLst/>
          </a:prstGeom>
          <a:ln w="15240">
            <a:solidFill>
              <a:srgbClr val="000000"/>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50" name="Evidence availability"/>
          <p:cNvSpPr/>
          <p:nvPr/>
        </p:nvSpPr>
        <p:spPr>
          <a:xfrm>
            <a:off x="8788400" y="10833100"/>
            <a:ext cx="3302000" cy="1104900"/>
          </a:xfrm>
          <a:prstGeom prst="rect">
            <a:avLst/>
          </a:prstGeom>
          <a:solidFill>
            <a:srgbClr val="FFFFFF"/>
          </a:solidFill>
          <a:ln w="15240">
            <a:solidFill>
              <a:srgbClr val="000000"/>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Evidence availability"/>
          <p:cNvSpPr txBox="1"/>
          <p:nvPr/>
        </p:nvSpPr>
        <p:spPr>
          <a:xfrm>
            <a:off x="8915400" y="10947400"/>
            <a:ext cx="3048000" cy="342900"/>
          </a:xfrm>
          <a:prstGeom prst="rect">
            <a:avLst/>
          </a:prstGeom>
          <a:noFill/>
        </p:spPr>
        <p:txBody>
          <a:bodyPr wrap="none" lIns="0" rIns="0" tIns="0" bIns="0" anchor="ctr">
            <a:spAutoFit/>
          </a:bodyPr>
          <a:lstStyle/>
          <a:p>
            <a:pPr algn="ctr">
              <a:lnSpc>
                <a:spcPct val="110000"/>
              </a:lnSpc>
              <a:spcBef>
                <a:spcPts val="0"/>
              </a:spcBef>
              <a:spcAft>
                <a:spcPts val="0"/>
              </a:spcAft>
              <a:defRPr sz="2100" b="1">
                <a:solidFill>
                  <a:srgbClr val="000000"/>
                </a:solidFill>
                <a:latin typeface="Arial"/>
              </a:defRPr>
            </a:pPr>
            <a:r>
              <a:t>Evidence availability</a:t>
            </a:r>
          </a:p>
        </p:txBody>
      </p:sp>
      <p:sp>
        <p:nvSpPr>
          <p:cNvPr id="52" name="Observed facts and reasons Missing checks stay explicit"/>
          <p:cNvSpPr txBox="1"/>
          <p:nvPr/>
        </p:nvSpPr>
        <p:spPr>
          <a:xfrm>
            <a:off x="8940800" y="11328400"/>
            <a:ext cx="2997200" cy="508000"/>
          </a:xfrm>
          <a:prstGeom prst="rect">
            <a:avLst/>
          </a:prstGeom>
          <a:noFill/>
        </p:spPr>
        <p:txBody>
          <a:bodyPr wrap="none" lIns="0" rIns="0" tIns="0" bIns="0" anchor="ctr">
            <a:spAutoFit/>
          </a:bodyPr>
          <a:lstStyle/>
          <a:p>
            <a:pPr algn="ctr">
              <a:lnSpc>
                <a:spcPct val="110000"/>
              </a:lnSpc>
              <a:spcBef>
                <a:spcPts val="0"/>
              </a:spcBef>
              <a:spcAft>
                <a:spcPts val="0"/>
              </a:spcAft>
              <a:defRPr sz="1700" b="0">
                <a:solidFill>
                  <a:srgbClr val="000000"/>
                </a:solidFill>
                <a:latin typeface="Arial"/>
              </a:defRPr>
            </a:pPr>
            <a:r>
              <a:t>Observed facts and reasons</a:t>
            </a:r>
          </a:p>
          <a:p>
            <a:pPr algn="ctr">
              <a:lnSpc>
                <a:spcPct val="110000"/>
              </a:lnSpc>
              <a:spcBef>
                <a:spcPts val="0"/>
              </a:spcBef>
              <a:spcAft>
                <a:spcPts val="0"/>
              </a:spcAft>
              <a:defRPr sz="1700" b="0">
                <a:solidFill>
                  <a:srgbClr val="000000"/>
                </a:solidFill>
                <a:latin typeface="Arial"/>
              </a:defRPr>
            </a:pPr>
            <a:r>
              <a:t>Missing checks stay explicit</a:t>
            </a:r>
          </a:p>
        </p:txBody>
      </p:sp>
      <p:cxnSp>
        <p:nvCxnSpPr>
          <p:cNvPr id="53" name="Connector 52"/>
          <p:cNvCxnSpPr/>
          <p:nvPr/>
        </p:nvCxnSpPr>
        <p:spPr>
          <a:xfrm>
            <a:off x="4305300" y="11938000"/>
            <a:ext cx="0" cy="419100"/>
          </a:xfrm>
          <a:prstGeom prst="line">
            <a:avLst/>
          </a:prstGeom>
          <a:ln w="1524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0439400" y="11938000"/>
            <a:ext cx="0" cy="419100"/>
          </a:xfrm>
          <a:prstGeom prst="line">
            <a:avLst/>
          </a:prstGeom>
          <a:ln w="15240">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4305300" y="12357100"/>
            <a:ext cx="2044700" cy="0"/>
          </a:xfrm>
          <a:prstGeom prst="line">
            <a:avLst/>
          </a:prstGeom>
          <a:ln w="1524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6350000" y="12357100"/>
            <a:ext cx="4089400" cy="0"/>
          </a:xfrm>
          <a:prstGeom prst="line">
            <a:avLst/>
          </a:prstGeom>
          <a:ln w="15240">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350000" y="12357100"/>
            <a:ext cx="0" cy="355600"/>
          </a:xfrm>
          <a:prstGeom prst="line">
            <a:avLst/>
          </a:prstGeom>
          <a:ln w="15240">
            <a:solidFill>
              <a:srgbClr val="000000"/>
            </a:solidFill>
            <a:tailEnd type="triangle" w="sm" len="sm"/>
          </a:ln>
        </p:spPr>
        <p:style>
          <a:lnRef idx="2">
            <a:schemeClr val="accent1"/>
          </a:lnRef>
          <a:fillRef idx="0">
            <a:schemeClr val="accent1"/>
          </a:fillRef>
          <a:effectRef idx="1">
            <a:schemeClr val="accent1"/>
          </a:effectRef>
          <a:fontRef idx="minor">
            <a:schemeClr val="tx1"/>
          </a:fontRef>
        </p:style>
      </p:cxnSp>
      <p:sp>
        <p:nvSpPr>
          <p:cNvPr id="58" name="URL assessment and explanation"/>
          <p:cNvSpPr/>
          <p:nvPr/>
        </p:nvSpPr>
        <p:spPr>
          <a:xfrm>
            <a:off x="1270000" y="12712700"/>
            <a:ext cx="10160000" cy="1219200"/>
          </a:xfrm>
          <a:prstGeom prst="rect">
            <a:avLst/>
          </a:prstGeom>
          <a:solidFill>
            <a:srgbClr val="FFFFFF"/>
          </a:solidFill>
          <a:ln w="15240">
            <a:solidFill>
              <a:srgbClr val="00000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URL assessment and explanation"/>
          <p:cNvSpPr txBox="1"/>
          <p:nvPr/>
        </p:nvSpPr>
        <p:spPr>
          <a:xfrm>
            <a:off x="1397000" y="12827000"/>
            <a:ext cx="9906000" cy="342900"/>
          </a:xfrm>
          <a:prstGeom prst="rect">
            <a:avLst/>
          </a:prstGeom>
          <a:noFill/>
        </p:spPr>
        <p:txBody>
          <a:bodyPr wrap="none" lIns="0" rIns="0" tIns="0" bIns="0" anchor="ctr">
            <a:spAutoFit/>
          </a:bodyPr>
          <a:lstStyle/>
          <a:p>
            <a:pPr algn="ctr">
              <a:lnSpc>
                <a:spcPct val="110000"/>
              </a:lnSpc>
              <a:spcBef>
                <a:spcPts val="0"/>
              </a:spcBef>
              <a:spcAft>
                <a:spcPts val="0"/>
              </a:spcAft>
              <a:defRPr sz="2100" b="1">
                <a:solidFill>
                  <a:srgbClr val="000000"/>
                </a:solidFill>
                <a:latin typeface="Arial"/>
              </a:defRPr>
            </a:pPr>
            <a:r>
              <a:t>URL assessment and explanation</a:t>
            </a:r>
          </a:p>
        </p:txBody>
      </p:sp>
      <p:sp>
        <p:nvSpPr>
          <p:cNvPr id="60" name="Risk index, model rationale, rule findings and available website evidence Per-check status identifies missing or incompl"/>
          <p:cNvSpPr txBox="1"/>
          <p:nvPr/>
        </p:nvSpPr>
        <p:spPr>
          <a:xfrm>
            <a:off x="1422400" y="13208000"/>
            <a:ext cx="9855200" cy="622300"/>
          </a:xfrm>
          <a:prstGeom prst="rect">
            <a:avLst/>
          </a:prstGeom>
          <a:noFill/>
        </p:spPr>
        <p:txBody>
          <a:bodyPr wrap="none" lIns="0" rIns="0" tIns="0" bIns="0" anchor="ctr">
            <a:spAutoFit/>
          </a:bodyPr>
          <a:lstStyle/>
          <a:p>
            <a:pPr algn="ctr">
              <a:lnSpc>
                <a:spcPct val="110000"/>
              </a:lnSpc>
              <a:spcBef>
                <a:spcPts val="0"/>
              </a:spcBef>
              <a:spcAft>
                <a:spcPts val="0"/>
              </a:spcAft>
              <a:defRPr sz="1900" b="0">
                <a:solidFill>
                  <a:srgbClr val="000000"/>
                </a:solidFill>
                <a:latin typeface="Arial"/>
              </a:defRPr>
            </a:pPr>
            <a:r>
              <a:t>Risk index, model rationale, rule findings and available website evidence</a:t>
            </a:r>
          </a:p>
          <a:p>
            <a:pPr algn="ctr">
              <a:lnSpc>
                <a:spcPct val="110000"/>
              </a:lnSpc>
              <a:spcBef>
                <a:spcPts val="0"/>
              </a:spcBef>
              <a:spcAft>
                <a:spcPts val="0"/>
              </a:spcAft>
              <a:defRPr sz="1900" b="0">
                <a:solidFill>
                  <a:srgbClr val="000000"/>
                </a:solidFill>
                <a:latin typeface="Arial"/>
              </a:defRPr>
            </a:pPr>
            <a:r>
              <a:t>Per-check status identifies missing or incomplete evidence</a:t>
            </a:r>
          </a:p>
        </p:txBody>
      </p:sp>
      <p:cxnSp>
        <p:nvCxnSpPr>
          <p:cNvPr id="61" name="Connector 60"/>
          <p:cNvCxnSpPr/>
          <p:nvPr/>
        </p:nvCxnSpPr>
        <p:spPr>
          <a:xfrm>
            <a:off x="6350000" y="13931900"/>
            <a:ext cx="0" cy="342900"/>
          </a:xfrm>
          <a:prstGeom prst="line">
            <a:avLst/>
          </a:prstGeom>
          <a:ln w="15240">
            <a:solidFill>
              <a:srgbClr val="000000"/>
            </a:solidFill>
            <a:tailEnd type="triangle" w="sm" len="sm"/>
          </a:ln>
        </p:spPr>
        <p:style>
          <a:lnRef idx="2">
            <a:schemeClr val="accent1"/>
          </a:lnRef>
          <a:fillRef idx="0">
            <a:schemeClr val="accent1"/>
          </a:fillRef>
          <a:effectRef idx="1">
            <a:schemeClr val="accent1"/>
          </a:effectRef>
          <a:fontRef idx="minor">
            <a:schemeClr val="tx1"/>
          </a:fontRef>
        </p:style>
      </p:cxnSp>
      <p:sp>
        <p:nvSpPr>
          <p:cNvPr id="62" name="Saved result and report"/>
          <p:cNvSpPr/>
          <p:nvPr/>
        </p:nvSpPr>
        <p:spPr>
          <a:xfrm>
            <a:off x="3175000" y="14274800"/>
            <a:ext cx="6350000" cy="965200"/>
          </a:xfrm>
          <a:prstGeom prst="rect">
            <a:avLst/>
          </a:prstGeom>
          <a:solidFill>
            <a:srgbClr val="FFFFFF"/>
          </a:solidFill>
          <a:ln w="15240">
            <a:solidFill>
              <a:srgbClr val="00000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Saved result and report"/>
          <p:cNvSpPr txBox="1"/>
          <p:nvPr/>
        </p:nvSpPr>
        <p:spPr>
          <a:xfrm>
            <a:off x="3302000" y="14389100"/>
            <a:ext cx="6096000" cy="342900"/>
          </a:xfrm>
          <a:prstGeom prst="rect">
            <a:avLst/>
          </a:prstGeom>
          <a:noFill/>
        </p:spPr>
        <p:txBody>
          <a:bodyPr wrap="none" lIns="0" rIns="0" tIns="0" bIns="0" anchor="ctr">
            <a:spAutoFit/>
          </a:bodyPr>
          <a:lstStyle/>
          <a:p>
            <a:pPr algn="ctr">
              <a:lnSpc>
                <a:spcPct val="110000"/>
              </a:lnSpc>
              <a:spcBef>
                <a:spcPts val="0"/>
              </a:spcBef>
              <a:spcAft>
                <a:spcPts val="0"/>
              </a:spcAft>
              <a:defRPr sz="2100" b="1">
                <a:solidFill>
                  <a:srgbClr val="000000"/>
                </a:solidFill>
                <a:latin typeface="Arial"/>
              </a:defRPr>
            </a:pPr>
            <a:r>
              <a:t>Saved result and report</a:t>
            </a:r>
          </a:p>
        </p:txBody>
      </p:sp>
      <p:sp>
        <p:nvSpPr>
          <p:cNvPr id="64" name="Authenticated history and website report"/>
          <p:cNvSpPr txBox="1"/>
          <p:nvPr/>
        </p:nvSpPr>
        <p:spPr>
          <a:xfrm>
            <a:off x="3327400" y="14770100"/>
            <a:ext cx="6045200" cy="368300"/>
          </a:xfrm>
          <a:prstGeom prst="rect">
            <a:avLst/>
          </a:prstGeom>
          <a:noFill/>
        </p:spPr>
        <p:txBody>
          <a:bodyPr wrap="none" lIns="0" rIns="0" tIns="0" bIns="0" anchor="ctr">
            <a:spAutoFit/>
          </a:bodyPr>
          <a:lstStyle/>
          <a:p>
            <a:pPr algn="ctr">
              <a:lnSpc>
                <a:spcPct val="110000"/>
              </a:lnSpc>
              <a:spcBef>
                <a:spcPts val="0"/>
              </a:spcBef>
              <a:spcAft>
                <a:spcPts val="0"/>
              </a:spcAft>
              <a:defRPr sz="1850" b="0">
                <a:solidFill>
                  <a:srgbClr val="000000"/>
                </a:solidFill>
                <a:latin typeface="Arial"/>
              </a:defRPr>
            </a:pPr>
            <a:r>
              <a:t>Authenticated history and website report</a:t>
            </a:r>
          </a:p>
        </p:txBody>
      </p:sp>
      <p:sp>
        <p:nvSpPr>
          <p:cNvPr id="65" name="Solid lines: offline assessment. Dashed lines: website collection only when requested."/>
          <p:cNvSpPr txBox="1"/>
          <p:nvPr/>
        </p:nvSpPr>
        <p:spPr>
          <a:xfrm>
            <a:off x="508000" y="15316200"/>
            <a:ext cx="11684000" cy="279400"/>
          </a:xfrm>
          <a:prstGeom prst="rect">
            <a:avLst/>
          </a:prstGeom>
          <a:noFill/>
        </p:spPr>
        <p:txBody>
          <a:bodyPr wrap="none" lIns="0" rIns="0" tIns="0" bIns="0" anchor="ctr">
            <a:spAutoFit/>
          </a:bodyPr>
          <a:lstStyle/>
          <a:p>
            <a:pPr algn="ctr">
              <a:lnSpc>
                <a:spcPct val="110000"/>
              </a:lnSpc>
              <a:spcBef>
                <a:spcPts val="0"/>
              </a:spcBef>
              <a:spcAft>
                <a:spcPts val="0"/>
              </a:spcAft>
              <a:defRPr sz="1600" b="0">
                <a:solidFill>
                  <a:srgbClr val="000000"/>
                </a:solidFill>
                <a:latin typeface="Arial"/>
              </a:defRPr>
            </a:pPr>
            <a:r>
              <a:t>Solid lines: offline assessment. Dashed lines: website collection only when requested.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cam message and phishing URL fusion"/>
          <p:cNvSpPr txBox="1"/>
          <p:nvPr/>
        </p:nvSpPr>
        <p:spPr>
          <a:xfrm>
            <a:off x="508000" y="254000"/>
            <a:ext cx="11684000" cy="533400"/>
          </a:xfrm>
          <a:prstGeom prst="rect">
            <a:avLst/>
          </a:prstGeom>
          <a:noFill/>
        </p:spPr>
        <p:txBody>
          <a:bodyPr wrap="none" lIns="0" rIns="0" tIns="0" bIns="0" anchor="ctr">
            <a:spAutoFit/>
          </a:bodyPr>
          <a:lstStyle/>
          <a:p>
            <a:pPr algn="l">
              <a:lnSpc>
                <a:spcPct val="110000"/>
              </a:lnSpc>
              <a:spcBef>
                <a:spcPts val="0"/>
              </a:spcBef>
              <a:spcAft>
                <a:spcPts val="0"/>
              </a:spcAft>
              <a:defRPr sz="3000" b="1">
                <a:solidFill>
                  <a:srgbClr val="000000"/>
                </a:solidFill>
                <a:latin typeface="Arial"/>
              </a:defRPr>
            </a:pPr>
            <a:r>
              <a:t>Scam message and phishing URL fusion</a:t>
            </a:r>
          </a:p>
        </p:txBody>
      </p:sp>
      <p:sp>
        <p:nvSpPr>
          <p:cNvPr id="3" name="TrustNet AI   Website and Gmail extension inference methodology"/>
          <p:cNvSpPr txBox="1"/>
          <p:nvPr/>
        </p:nvSpPr>
        <p:spPr>
          <a:xfrm>
            <a:off x="508000" y="825500"/>
            <a:ext cx="11684000" cy="355600"/>
          </a:xfrm>
          <a:prstGeom prst="rect">
            <a:avLst/>
          </a:prstGeom>
          <a:noFill/>
        </p:spPr>
        <p:txBody>
          <a:bodyPr wrap="none" lIns="0" rIns="0" tIns="0" bIns="0" anchor="ctr">
            <a:spAutoFit/>
          </a:bodyPr>
          <a:lstStyle/>
          <a:p>
            <a:pPr algn="l">
              <a:lnSpc>
                <a:spcPct val="110000"/>
              </a:lnSpc>
              <a:spcBef>
                <a:spcPts val="0"/>
              </a:spcBef>
              <a:spcAft>
                <a:spcPts val="0"/>
              </a:spcAft>
              <a:defRPr sz="1800" b="0">
                <a:solidFill>
                  <a:srgbClr val="000000"/>
                </a:solidFill>
                <a:latin typeface="Arial"/>
              </a:defRPr>
            </a:pPr>
            <a:r>
              <a:t>TrustNet AI   Website and Gmail extension inference methodology</a:t>
            </a:r>
          </a:p>
        </p:txBody>
      </p:sp>
      <p:sp>
        <p:nvSpPr>
          <p:cNvPr id="4" name="Website message input"/>
          <p:cNvSpPr/>
          <p:nvPr/>
        </p:nvSpPr>
        <p:spPr>
          <a:xfrm>
            <a:off x="762000" y="1435100"/>
            <a:ext cx="5207000" cy="1244600"/>
          </a:xfrm>
          <a:prstGeom prst="rect">
            <a:avLst/>
          </a:prstGeom>
          <a:solidFill>
            <a:srgbClr val="FFFFFF"/>
          </a:solidFill>
          <a:ln w="15240">
            <a:solidFill>
              <a:srgbClr val="00000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Website message input"/>
          <p:cNvSpPr txBox="1"/>
          <p:nvPr/>
        </p:nvSpPr>
        <p:spPr>
          <a:xfrm>
            <a:off x="889000" y="1549400"/>
            <a:ext cx="4953000" cy="342900"/>
          </a:xfrm>
          <a:prstGeom prst="rect">
            <a:avLst/>
          </a:prstGeom>
          <a:noFill/>
        </p:spPr>
        <p:txBody>
          <a:bodyPr wrap="none" lIns="0" rIns="0" tIns="0" bIns="0" anchor="ctr">
            <a:spAutoFit/>
          </a:bodyPr>
          <a:lstStyle/>
          <a:p>
            <a:pPr algn="ctr">
              <a:lnSpc>
                <a:spcPct val="110000"/>
              </a:lnSpc>
              <a:spcBef>
                <a:spcPts val="0"/>
              </a:spcBef>
              <a:spcAft>
                <a:spcPts val="0"/>
              </a:spcAft>
              <a:defRPr sz="2100" b="1">
                <a:solidFill>
                  <a:srgbClr val="000000"/>
                </a:solidFill>
                <a:latin typeface="Arial"/>
              </a:defRPr>
            </a:pPr>
            <a:r>
              <a:t>Website message input</a:t>
            </a:r>
          </a:p>
        </p:txBody>
      </p:sp>
      <p:sp>
        <p:nvSpPr>
          <p:cNvPr id="6" name="Text message or selected email Plain text or supported email HTML"/>
          <p:cNvSpPr txBox="1"/>
          <p:nvPr/>
        </p:nvSpPr>
        <p:spPr>
          <a:xfrm>
            <a:off x="914400" y="1930400"/>
            <a:ext cx="4902200" cy="647700"/>
          </a:xfrm>
          <a:prstGeom prst="rect">
            <a:avLst/>
          </a:prstGeom>
          <a:noFill/>
        </p:spPr>
        <p:txBody>
          <a:bodyPr wrap="none" lIns="0" rIns="0" tIns="0" bIns="0" anchor="ctr">
            <a:spAutoFit/>
          </a:bodyPr>
          <a:lstStyle/>
          <a:p>
            <a:pPr algn="ctr">
              <a:lnSpc>
                <a:spcPct val="110000"/>
              </a:lnSpc>
              <a:spcBef>
                <a:spcPts val="0"/>
              </a:spcBef>
              <a:spcAft>
                <a:spcPts val="0"/>
              </a:spcAft>
              <a:defRPr sz="1850" b="0">
                <a:solidFill>
                  <a:srgbClr val="000000"/>
                </a:solidFill>
                <a:latin typeface="Arial"/>
              </a:defRPr>
            </a:pPr>
            <a:r>
              <a:t>Text message or selected email</a:t>
            </a:r>
          </a:p>
          <a:p>
            <a:pPr algn="ctr">
              <a:lnSpc>
                <a:spcPct val="110000"/>
              </a:lnSpc>
              <a:spcBef>
                <a:spcPts val="0"/>
              </a:spcBef>
              <a:spcAft>
                <a:spcPts val="0"/>
              </a:spcAft>
              <a:defRPr sz="1850" b="0">
                <a:solidFill>
                  <a:srgbClr val="000000"/>
                </a:solidFill>
                <a:latin typeface="Arial"/>
              </a:defRPr>
            </a:pPr>
            <a:r>
              <a:t>Plain text or supported email HTML</a:t>
            </a:r>
          </a:p>
        </p:txBody>
      </p:sp>
      <p:sp>
        <p:nvSpPr>
          <p:cNvPr id="7" name="Gmail extension"/>
          <p:cNvSpPr/>
          <p:nvPr/>
        </p:nvSpPr>
        <p:spPr>
          <a:xfrm>
            <a:off x="6731000" y="1435100"/>
            <a:ext cx="5207000" cy="1244600"/>
          </a:xfrm>
          <a:prstGeom prst="rect">
            <a:avLst/>
          </a:prstGeom>
          <a:solidFill>
            <a:srgbClr val="FFFFFF"/>
          </a:solidFill>
          <a:ln w="15240">
            <a:solidFill>
              <a:srgbClr val="00000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Gmail extension"/>
          <p:cNvSpPr txBox="1"/>
          <p:nvPr/>
        </p:nvSpPr>
        <p:spPr>
          <a:xfrm>
            <a:off x="6858000" y="1549400"/>
            <a:ext cx="4953000" cy="342900"/>
          </a:xfrm>
          <a:prstGeom prst="rect">
            <a:avLst/>
          </a:prstGeom>
          <a:noFill/>
        </p:spPr>
        <p:txBody>
          <a:bodyPr wrap="none" lIns="0" rIns="0" tIns="0" bIns="0" anchor="ctr">
            <a:spAutoFit/>
          </a:bodyPr>
          <a:lstStyle/>
          <a:p>
            <a:pPr algn="ctr">
              <a:lnSpc>
                <a:spcPct val="110000"/>
              </a:lnSpc>
              <a:spcBef>
                <a:spcPts val="0"/>
              </a:spcBef>
              <a:spcAft>
                <a:spcPts val="0"/>
              </a:spcAft>
              <a:defRPr sz="2100" b="1">
                <a:solidFill>
                  <a:srgbClr val="000000"/>
                </a:solidFill>
                <a:latin typeface="Arial"/>
              </a:defRPr>
            </a:pPr>
            <a:r>
              <a:t>Gmail extension</a:t>
            </a:r>
          </a:p>
        </p:txBody>
      </p:sp>
      <p:sp>
        <p:nvSpPr>
          <p:cNvPr id="9" name="User clicks Scan Message Subject, visible body and displayed links"/>
          <p:cNvSpPr txBox="1"/>
          <p:nvPr/>
        </p:nvSpPr>
        <p:spPr>
          <a:xfrm>
            <a:off x="6883400" y="1930400"/>
            <a:ext cx="4902200" cy="647700"/>
          </a:xfrm>
          <a:prstGeom prst="rect">
            <a:avLst/>
          </a:prstGeom>
          <a:noFill/>
        </p:spPr>
        <p:txBody>
          <a:bodyPr wrap="none" lIns="0" rIns="0" tIns="0" bIns="0" anchor="ctr">
            <a:spAutoFit/>
          </a:bodyPr>
          <a:lstStyle/>
          <a:p>
            <a:pPr algn="ctr">
              <a:lnSpc>
                <a:spcPct val="110000"/>
              </a:lnSpc>
              <a:spcBef>
                <a:spcPts val="0"/>
              </a:spcBef>
              <a:spcAft>
                <a:spcPts val="0"/>
              </a:spcAft>
              <a:defRPr sz="1850" b="0">
                <a:solidFill>
                  <a:srgbClr val="000000"/>
                </a:solidFill>
                <a:latin typeface="Arial"/>
              </a:defRPr>
            </a:pPr>
            <a:r>
              <a:t>User clicks Scan Message</a:t>
            </a:r>
          </a:p>
          <a:p>
            <a:pPr algn="ctr">
              <a:lnSpc>
                <a:spcPct val="110000"/>
              </a:lnSpc>
              <a:spcBef>
                <a:spcPts val="0"/>
              </a:spcBef>
              <a:spcAft>
                <a:spcPts val="0"/>
              </a:spcAft>
              <a:defRPr sz="1850" b="0">
                <a:solidFill>
                  <a:srgbClr val="000000"/>
                </a:solidFill>
                <a:latin typeface="Arial"/>
              </a:defRPr>
            </a:pPr>
            <a:r>
              <a:t>Subject, visible body and displayed links</a:t>
            </a:r>
          </a:p>
        </p:txBody>
      </p:sp>
      <p:cxnSp>
        <p:nvCxnSpPr>
          <p:cNvPr id="10" name="Connector 9"/>
          <p:cNvCxnSpPr/>
          <p:nvPr/>
        </p:nvCxnSpPr>
        <p:spPr>
          <a:xfrm>
            <a:off x="3365500" y="2679700"/>
            <a:ext cx="0" cy="368300"/>
          </a:xfrm>
          <a:prstGeom prst="line">
            <a:avLst/>
          </a:prstGeom>
          <a:ln w="1524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334500" y="2679700"/>
            <a:ext cx="0" cy="368300"/>
          </a:xfrm>
          <a:prstGeom prst="line">
            <a:avLst/>
          </a:prstGeom>
          <a:ln w="1524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365500" y="3048000"/>
            <a:ext cx="5969000" cy="0"/>
          </a:xfrm>
          <a:prstGeom prst="line">
            <a:avLst/>
          </a:prstGeom>
          <a:ln w="1524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350000" y="3048000"/>
            <a:ext cx="0" cy="342900"/>
          </a:xfrm>
          <a:prstGeom prst="line">
            <a:avLst/>
          </a:prstGeom>
          <a:ln w="15240">
            <a:solidFill>
              <a:srgbClr val="000000"/>
            </a:solidFill>
            <a:tailEnd type="triangle" w="sm" len="sm"/>
          </a:ln>
        </p:spPr>
        <p:style>
          <a:lnRef idx="2">
            <a:schemeClr val="accent1"/>
          </a:lnRef>
          <a:fillRef idx="0">
            <a:schemeClr val="accent1"/>
          </a:fillRef>
          <a:effectRef idx="1">
            <a:schemeClr val="accent1"/>
          </a:effectRef>
          <a:fontRef idx="minor">
            <a:schemeClr val="tx1"/>
          </a:fontRef>
        </p:style>
      </p:cxnSp>
      <p:sp>
        <p:nvSpPr>
          <p:cNvPr id="14" name="Authenticated API and scan management"/>
          <p:cNvSpPr/>
          <p:nvPr/>
        </p:nvSpPr>
        <p:spPr>
          <a:xfrm>
            <a:off x="1778000" y="3390900"/>
            <a:ext cx="9144000" cy="965200"/>
          </a:xfrm>
          <a:prstGeom prst="rect">
            <a:avLst/>
          </a:prstGeom>
          <a:solidFill>
            <a:srgbClr val="FFFFFF"/>
          </a:solidFill>
          <a:ln w="15240">
            <a:solidFill>
              <a:srgbClr val="00000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Authenticated API and scan management"/>
          <p:cNvSpPr txBox="1"/>
          <p:nvPr/>
        </p:nvSpPr>
        <p:spPr>
          <a:xfrm>
            <a:off x="1905000" y="3505200"/>
            <a:ext cx="8890000" cy="342900"/>
          </a:xfrm>
          <a:prstGeom prst="rect">
            <a:avLst/>
          </a:prstGeom>
          <a:noFill/>
        </p:spPr>
        <p:txBody>
          <a:bodyPr wrap="none" lIns="0" rIns="0" tIns="0" bIns="0" anchor="ctr">
            <a:spAutoFit/>
          </a:bodyPr>
          <a:lstStyle/>
          <a:p>
            <a:pPr algn="ctr">
              <a:lnSpc>
                <a:spcPct val="110000"/>
              </a:lnSpc>
              <a:spcBef>
                <a:spcPts val="0"/>
              </a:spcBef>
              <a:spcAft>
                <a:spcPts val="0"/>
              </a:spcAft>
              <a:defRPr sz="2100" b="1">
                <a:solidFill>
                  <a:srgbClr val="000000"/>
                </a:solidFill>
                <a:latin typeface="Arial"/>
              </a:defRPr>
            </a:pPr>
            <a:r>
              <a:t>Authenticated API and scan management</a:t>
            </a:r>
          </a:p>
        </p:txBody>
      </p:sp>
      <p:sp>
        <p:nvSpPr>
          <p:cNvPr id="16" name="JWT identity, input limits and owner-scoped scan records"/>
          <p:cNvSpPr txBox="1"/>
          <p:nvPr/>
        </p:nvSpPr>
        <p:spPr>
          <a:xfrm>
            <a:off x="1930400" y="3886200"/>
            <a:ext cx="8839200" cy="368300"/>
          </a:xfrm>
          <a:prstGeom prst="rect">
            <a:avLst/>
          </a:prstGeom>
          <a:noFill/>
        </p:spPr>
        <p:txBody>
          <a:bodyPr wrap="none" lIns="0" rIns="0" tIns="0" bIns="0" anchor="ctr">
            <a:spAutoFit/>
          </a:bodyPr>
          <a:lstStyle/>
          <a:p>
            <a:pPr algn="ctr">
              <a:lnSpc>
                <a:spcPct val="110000"/>
              </a:lnSpc>
              <a:spcBef>
                <a:spcPts val="0"/>
              </a:spcBef>
              <a:spcAft>
                <a:spcPts val="0"/>
              </a:spcAft>
              <a:defRPr sz="1900" b="0">
                <a:solidFill>
                  <a:srgbClr val="000000"/>
                </a:solidFill>
                <a:latin typeface="Arial"/>
              </a:defRPr>
            </a:pPr>
            <a:r>
              <a:t>JWT identity, input limits and owner-scoped scan records</a:t>
            </a:r>
          </a:p>
        </p:txBody>
      </p:sp>
      <p:cxnSp>
        <p:nvCxnSpPr>
          <p:cNvPr id="17" name="Connector 16"/>
          <p:cNvCxnSpPr/>
          <p:nvPr/>
        </p:nvCxnSpPr>
        <p:spPr>
          <a:xfrm>
            <a:off x="6350000" y="4356100"/>
            <a:ext cx="0" cy="381000"/>
          </a:xfrm>
          <a:prstGeom prst="line">
            <a:avLst/>
          </a:prstGeom>
          <a:ln w="15240">
            <a:solidFill>
              <a:srgbClr val="000000"/>
            </a:solidFill>
            <a:tailEnd type="triangle" w="sm" len="sm"/>
          </a:ln>
        </p:spPr>
        <p:style>
          <a:lnRef idx="2">
            <a:schemeClr val="accent1"/>
          </a:lnRef>
          <a:fillRef idx="0">
            <a:schemeClr val="accent1"/>
          </a:fillRef>
          <a:effectRef idx="1">
            <a:schemeClr val="accent1"/>
          </a:effectRef>
          <a:fontRef idx="minor">
            <a:schemeClr val="tx1"/>
          </a:fontRef>
        </p:style>
      </p:cxnSp>
      <p:sp>
        <p:nvSpPr>
          <p:cNvPr id="18" name="Canonical message and link context"/>
          <p:cNvSpPr/>
          <p:nvPr/>
        </p:nvSpPr>
        <p:spPr>
          <a:xfrm>
            <a:off x="1778000" y="4737100"/>
            <a:ext cx="9144000" cy="1219200"/>
          </a:xfrm>
          <a:prstGeom prst="rect">
            <a:avLst/>
          </a:prstGeom>
          <a:solidFill>
            <a:srgbClr val="FFFFFF"/>
          </a:solidFill>
          <a:ln w="15240">
            <a:solidFill>
              <a:srgbClr val="00000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Canonical message and link context"/>
          <p:cNvSpPr txBox="1"/>
          <p:nvPr/>
        </p:nvSpPr>
        <p:spPr>
          <a:xfrm>
            <a:off x="1905000" y="4851400"/>
            <a:ext cx="8890000" cy="342900"/>
          </a:xfrm>
          <a:prstGeom prst="rect">
            <a:avLst/>
          </a:prstGeom>
          <a:noFill/>
        </p:spPr>
        <p:txBody>
          <a:bodyPr wrap="none" lIns="0" rIns="0" tIns="0" bIns="0" anchor="ctr">
            <a:spAutoFit/>
          </a:bodyPr>
          <a:lstStyle/>
          <a:p>
            <a:pPr algn="ctr">
              <a:lnSpc>
                <a:spcPct val="110000"/>
              </a:lnSpc>
              <a:spcBef>
                <a:spcPts val="0"/>
              </a:spcBef>
              <a:spcAft>
                <a:spcPts val="0"/>
              </a:spcAft>
              <a:defRPr sz="2100" b="1">
                <a:solidFill>
                  <a:srgbClr val="000000"/>
                </a:solidFill>
                <a:latin typeface="Arial"/>
              </a:defRPr>
            </a:pPr>
            <a:r>
              <a:t>Canonical message and link context</a:t>
            </a:r>
          </a:p>
        </p:txBody>
      </p:sp>
      <p:sp>
        <p:nvSpPr>
          <p:cNvPr id="20" name="Decode email text, retain subject and available anchor destinations Validate supported English input without silent trun"/>
          <p:cNvSpPr txBox="1"/>
          <p:nvPr/>
        </p:nvSpPr>
        <p:spPr>
          <a:xfrm>
            <a:off x="1930400" y="5232400"/>
            <a:ext cx="8839200" cy="622300"/>
          </a:xfrm>
          <a:prstGeom prst="rect">
            <a:avLst/>
          </a:prstGeom>
          <a:noFill/>
        </p:spPr>
        <p:txBody>
          <a:bodyPr wrap="none" lIns="0" rIns="0" tIns="0" bIns="0" anchor="ctr">
            <a:spAutoFit/>
          </a:bodyPr>
          <a:lstStyle/>
          <a:p>
            <a:pPr algn="ctr">
              <a:lnSpc>
                <a:spcPct val="110000"/>
              </a:lnSpc>
              <a:spcBef>
                <a:spcPts val="0"/>
              </a:spcBef>
              <a:spcAft>
                <a:spcPts val="0"/>
              </a:spcAft>
              <a:defRPr sz="1850" b="0">
                <a:solidFill>
                  <a:srgbClr val="000000"/>
                </a:solidFill>
                <a:latin typeface="Arial"/>
              </a:defRPr>
            </a:pPr>
            <a:r>
              <a:t>Decode email text, retain subject and available anchor destinations</a:t>
            </a:r>
          </a:p>
          <a:p>
            <a:pPr algn="ctr">
              <a:lnSpc>
                <a:spcPct val="110000"/>
              </a:lnSpc>
              <a:spcBef>
                <a:spcPts val="0"/>
              </a:spcBef>
              <a:spcAft>
                <a:spcPts val="0"/>
              </a:spcAft>
              <a:defRPr sz="1850" b="0">
                <a:solidFill>
                  <a:srgbClr val="000000"/>
                </a:solidFill>
                <a:latin typeface="Arial"/>
              </a:defRPr>
            </a:pPr>
            <a:r>
              <a:t>Validate supported English input without silent truncation</a:t>
            </a:r>
          </a:p>
        </p:txBody>
      </p:sp>
      <p:cxnSp>
        <p:nvCxnSpPr>
          <p:cNvPr id="21" name="Connector 20"/>
          <p:cNvCxnSpPr/>
          <p:nvPr/>
        </p:nvCxnSpPr>
        <p:spPr>
          <a:xfrm>
            <a:off x="6350000" y="5956300"/>
            <a:ext cx="0" cy="317500"/>
          </a:xfrm>
          <a:prstGeom prst="line">
            <a:avLst/>
          </a:prstGeom>
          <a:ln w="1524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365500" y="6273800"/>
            <a:ext cx="5969000" cy="0"/>
          </a:xfrm>
          <a:prstGeom prst="line">
            <a:avLst/>
          </a:prstGeom>
          <a:ln w="1524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365500" y="6273800"/>
            <a:ext cx="0" cy="355600"/>
          </a:xfrm>
          <a:prstGeom prst="line">
            <a:avLst/>
          </a:prstGeom>
          <a:ln w="15240">
            <a:solidFill>
              <a:srgbClr val="00000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334500" y="6273800"/>
            <a:ext cx="0" cy="355600"/>
          </a:xfrm>
          <a:prstGeom prst="line">
            <a:avLst/>
          </a:prstGeom>
          <a:ln w="15240">
            <a:solidFill>
              <a:srgbClr val="000000"/>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Message assessment"/>
          <p:cNvSpPr/>
          <p:nvPr/>
        </p:nvSpPr>
        <p:spPr>
          <a:xfrm>
            <a:off x="762000" y="6629400"/>
            <a:ext cx="5207000" cy="1701800"/>
          </a:xfrm>
          <a:prstGeom prst="rect">
            <a:avLst/>
          </a:prstGeom>
          <a:solidFill>
            <a:srgbClr val="FFFFFF"/>
          </a:solidFill>
          <a:ln w="15240">
            <a:solidFill>
              <a:srgbClr val="00000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Message assessment"/>
          <p:cNvSpPr txBox="1"/>
          <p:nvPr/>
        </p:nvSpPr>
        <p:spPr>
          <a:xfrm>
            <a:off x="889000" y="6743700"/>
            <a:ext cx="4953000" cy="342900"/>
          </a:xfrm>
          <a:prstGeom prst="rect">
            <a:avLst/>
          </a:prstGeom>
          <a:noFill/>
        </p:spPr>
        <p:txBody>
          <a:bodyPr wrap="none" lIns="0" rIns="0" tIns="0" bIns="0" anchor="ctr">
            <a:spAutoFit/>
          </a:bodyPr>
          <a:lstStyle/>
          <a:p>
            <a:pPr algn="ctr">
              <a:lnSpc>
                <a:spcPct val="110000"/>
              </a:lnSpc>
              <a:spcBef>
                <a:spcPts val="0"/>
              </a:spcBef>
              <a:spcAft>
                <a:spcPts val="0"/>
              </a:spcAft>
              <a:defRPr sz="2100" b="1">
                <a:solidFill>
                  <a:srgbClr val="000000"/>
                </a:solidFill>
                <a:latin typeface="Arial"/>
              </a:defRPr>
            </a:pPr>
            <a:r>
              <a:t>Message assessment</a:t>
            </a:r>
          </a:p>
        </p:txBody>
      </p:sp>
      <p:sp>
        <p:nvSpPr>
          <p:cNvPr id="27" name="Fine tuned DistilBERT TF-IDF and Logistic Regression 14 local URL structure features Calibrated probability mixture"/>
          <p:cNvSpPr txBox="1"/>
          <p:nvPr/>
        </p:nvSpPr>
        <p:spPr>
          <a:xfrm>
            <a:off x="914400" y="7124700"/>
            <a:ext cx="4902200" cy="1104900"/>
          </a:xfrm>
          <a:prstGeom prst="rect">
            <a:avLst/>
          </a:prstGeom>
          <a:noFill/>
        </p:spPr>
        <p:txBody>
          <a:bodyPr wrap="none" lIns="0" rIns="0" tIns="0" bIns="0" anchor="ctr">
            <a:spAutoFit/>
          </a:bodyPr>
          <a:lstStyle/>
          <a:p>
            <a:pPr algn="ctr">
              <a:lnSpc>
                <a:spcPct val="110000"/>
              </a:lnSpc>
              <a:spcBef>
                <a:spcPts val="0"/>
              </a:spcBef>
              <a:spcAft>
                <a:spcPts val="0"/>
              </a:spcAft>
              <a:defRPr sz="1900" b="0">
                <a:solidFill>
                  <a:srgbClr val="000000"/>
                </a:solidFill>
                <a:latin typeface="Arial"/>
              </a:defRPr>
            </a:pPr>
            <a:r>
              <a:t>Fine tuned DistilBERT</a:t>
            </a:r>
          </a:p>
          <a:p>
            <a:pPr algn="ctr">
              <a:lnSpc>
                <a:spcPct val="110000"/>
              </a:lnSpc>
              <a:spcBef>
                <a:spcPts val="0"/>
              </a:spcBef>
              <a:spcAft>
                <a:spcPts val="0"/>
              </a:spcAft>
              <a:defRPr sz="1900" b="0">
                <a:solidFill>
                  <a:srgbClr val="000000"/>
                </a:solidFill>
                <a:latin typeface="Arial"/>
              </a:defRPr>
            </a:pPr>
            <a:r>
              <a:t>TF-IDF and Logistic Regression</a:t>
            </a:r>
          </a:p>
          <a:p>
            <a:pPr algn="ctr">
              <a:lnSpc>
                <a:spcPct val="110000"/>
              </a:lnSpc>
              <a:spcBef>
                <a:spcPts val="0"/>
              </a:spcBef>
              <a:spcAft>
                <a:spcPts val="0"/>
              </a:spcAft>
              <a:defRPr sz="1900" b="0">
                <a:solidFill>
                  <a:srgbClr val="000000"/>
                </a:solidFill>
                <a:latin typeface="Arial"/>
              </a:defRPr>
            </a:pPr>
            <a:r>
              <a:t>14 local URL structure features</a:t>
            </a:r>
          </a:p>
          <a:p>
            <a:pPr algn="ctr">
              <a:lnSpc>
                <a:spcPct val="110000"/>
              </a:lnSpc>
              <a:spcBef>
                <a:spcPts val="0"/>
              </a:spcBef>
              <a:spcAft>
                <a:spcPts val="0"/>
              </a:spcAft>
              <a:defRPr sz="1900" b="0">
                <a:solidFill>
                  <a:srgbClr val="000000"/>
                </a:solidFill>
                <a:latin typeface="Arial"/>
              </a:defRPr>
            </a:pPr>
            <a:r>
              <a:t>Calibrated probability mixture</a:t>
            </a:r>
          </a:p>
        </p:txBody>
      </p:sp>
      <p:sp>
        <p:nvSpPr>
          <p:cNvPr id="28" name="Embedded URL extraction"/>
          <p:cNvSpPr/>
          <p:nvPr/>
        </p:nvSpPr>
        <p:spPr>
          <a:xfrm>
            <a:off x="6731000" y="6629400"/>
            <a:ext cx="5207000" cy="1701800"/>
          </a:xfrm>
          <a:prstGeom prst="rect">
            <a:avLst/>
          </a:prstGeom>
          <a:solidFill>
            <a:srgbClr val="FFFFFF"/>
          </a:solidFill>
          <a:ln w="15240">
            <a:solidFill>
              <a:srgbClr val="00000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Embedded URL extraction"/>
          <p:cNvSpPr txBox="1"/>
          <p:nvPr/>
        </p:nvSpPr>
        <p:spPr>
          <a:xfrm>
            <a:off x="6858000" y="6743700"/>
            <a:ext cx="4953000" cy="342900"/>
          </a:xfrm>
          <a:prstGeom prst="rect">
            <a:avLst/>
          </a:prstGeom>
          <a:noFill/>
        </p:spPr>
        <p:txBody>
          <a:bodyPr wrap="none" lIns="0" rIns="0" tIns="0" bIns="0" anchor="ctr">
            <a:spAutoFit/>
          </a:bodyPr>
          <a:lstStyle/>
          <a:p>
            <a:pPr algn="ctr">
              <a:lnSpc>
                <a:spcPct val="110000"/>
              </a:lnSpc>
              <a:spcBef>
                <a:spcPts val="0"/>
              </a:spcBef>
              <a:spcAft>
                <a:spcPts val="0"/>
              </a:spcAft>
              <a:defRPr sz="2100" b="1">
                <a:solidFill>
                  <a:srgbClr val="000000"/>
                </a:solidFill>
                <a:latin typeface="Arial"/>
              </a:defRPr>
            </a:pPr>
            <a:r>
              <a:t>Embedded URL extraction</a:t>
            </a:r>
          </a:p>
        </p:txBody>
      </p:sp>
      <p:sp>
        <p:nvSpPr>
          <p:cNvPr id="30" name="Body text, anchors and displayed links Remove duplicate literal URLs Assess up to eight links"/>
          <p:cNvSpPr txBox="1"/>
          <p:nvPr/>
        </p:nvSpPr>
        <p:spPr>
          <a:xfrm>
            <a:off x="6883400" y="7124700"/>
            <a:ext cx="4902200" cy="1104900"/>
          </a:xfrm>
          <a:prstGeom prst="rect">
            <a:avLst/>
          </a:prstGeom>
          <a:noFill/>
        </p:spPr>
        <p:txBody>
          <a:bodyPr wrap="none" lIns="0" rIns="0" tIns="0" bIns="0" anchor="ctr">
            <a:spAutoFit/>
          </a:bodyPr>
          <a:lstStyle/>
          <a:p>
            <a:pPr algn="ctr">
              <a:lnSpc>
                <a:spcPct val="110000"/>
              </a:lnSpc>
              <a:spcBef>
                <a:spcPts val="0"/>
              </a:spcBef>
              <a:spcAft>
                <a:spcPts val="0"/>
              </a:spcAft>
              <a:defRPr sz="1850" b="0">
                <a:solidFill>
                  <a:srgbClr val="000000"/>
                </a:solidFill>
                <a:latin typeface="Arial"/>
              </a:defRPr>
            </a:pPr>
            <a:r>
              <a:t>Body text, anchors and displayed links</a:t>
            </a:r>
          </a:p>
          <a:p>
            <a:pPr algn="ctr">
              <a:lnSpc>
                <a:spcPct val="110000"/>
              </a:lnSpc>
              <a:spcBef>
                <a:spcPts val="0"/>
              </a:spcBef>
              <a:spcAft>
                <a:spcPts val="0"/>
              </a:spcAft>
              <a:defRPr sz="1850" b="0">
                <a:solidFill>
                  <a:srgbClr val="000000"/>
                </a:solidFill>
                <a:latin typeface="Arial"/>
              </a:defRPr>
            </a:pPr>
            <a:r>
              <a:t>Remove duplicate literal URLs</a:t>
            </a:r>
          </a:p>
          <a:p>
            <a:pPr algn="ctr">
              <a:lnSpc>
                <a:spcPct val="110000"/>
              </a:lnSpc>
              <a:spcBef>
                <a:spcPts val="0"/>
              </a:spcBef>
              <a:spcAft>
                <a:spcPts val="0"/>
              </a:spcAft>
              <a:defRPr sz="1850" b="0">
                <a:solidFill>
                  <a:srgbClr val="000000"/>
                </a:solidFill>
                <a:latin typeface="Arial"/>
              </a:defRPr>
            </a:pPr>
            <a:r>
              <a:t>Assess up to eight links</a:t>
            </a:r>
          </a:p>
        </p:txBody>
      </p:sp>
      <p:cxnSp>
        <p:nvCxnSpPr>
          <p:cNvPr id="31" name="Connector 30"/>
          <p:cNvCxnSpPr/>
          <p:nvPr/>
        </p:nvCxnSpPr>
        <p:spPr>
          <a:xfrm>
            <a:off x="3365500" y="8331200"/>
            <a:ext cx="0" cy="292100"/>
          </a:xfrm>
          <a:prstGeom prst="line">
            <a:avLst/>
          </a:prstGeom>
          <a:ln w="15240">
            <a:solidFill>
              <a:srgbClr val="00000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334500" y="8331200"/>
            <a:ext cx="0" cy="292100"/>
          </a:xfrm>
          <a:prstGeom prst="line">
            <a:avLst/>
          </a:prstGeom>
          <a:ln w="15240">
            <a:solidFill>
              <a:srgbClr val="000000"/>
            </a:solidFill>
            <a:tailEnd type="triangle" w="sm" len="sm"/>
          </a:ln>
        </p:spPr>
        <p:style>
          <a:lnRef idx="2">
            <a:schemeClr val="accent1"/>
          </a:lnRef>
          <a:fillRef idx="0">
            <a:schemeClr val="accent1"/>
          </a:fillRef>
          <a:effectRef idx="1">
            <a:schemeClr val="accent1"/>
          </a:effectRef>
          <a:fontRef idx="minor">
            <a:schemeClr val="tx1"/>
          </a:fontRef>
        </p:style>
      </p:cxnSp>
      <p:sp>
        <p:nvSpPr>
          <p:cNvPr id="33" name="Text score and explanation"/>
          <p:cNvSpPr/>
          <p:nvPr/>
        </p:nvSpPr>
        <p:spPr>
          <a:xfrm>
            <a:off x="762000" y="8623300"/>
            <a:ext cx="5207000" cy="1244600"/>
          </a:xfrm>
          <a:prstGeom prst="rect">
            <a:avLst/>
          </a:prstGeom>
          <a:solidFill>
            <a:srgbClr val="FFFFFF"/>
          </a:solidFill>
          <a:ln w="15240">
            <a:solidFill>
              <a:srgbClr val="00000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 score and explanation"/>
          <p:cNvSpPr txBox="1"/>
          <p:nvPr/>
        </p:nvSpPr>
        <p:spPr>
          <a:xfrm>
            <a:off x="889000" y="8737600"/>
            <a:ext cx="4953000" cy="342900"/>
          </a:xfrm>
          <a:prstGeom prst="rect">
            <a:avLst/>
          </a:prstGeom>
          <a:noFill/>
        </p:spPr>
        <p:txBody>
          <a:bodyPr wrap="none" lIns="0" rIns="0" tIns="0" bIns="0" anchor="ctr">
            <a:spAutoFit/>
          </a:bodyPr>
          <a:lstStyle/>
          <a:p>
            <a:pPr algn="ctr">
              <a:lnSpc>
                <a:spcPct val="110000"/>
              </a:lnSpc>
              <a:spcBef>
                <a:spcPts val="0"/>
              </a:spcBef>
              <a:spcAft>
                <a:spcPts val="0"/>
              </a:spcAft>
              <a:defRPr sz="2100" b="1">
                <a:solidFill>
                  <a:srgbClr val="000000"/>
                </a:solidFill>
                <a:latin typeface="Arial"/>
              </a:defRPr>
            </a:pPr>
            <a:r>
              <a:t>Text score and explanation</a:t>
            </a:r>
          </a:p>
        </p:txBody>
      </p:sp>
      <p:sp>
        <p:nvSpPr>
          <p:cNvPr id="35" name="Fraud, spam and legitimate probabilities Bounded occlusion evidence"/>
          <p:cNvSpPr txBox="1"/>
          <p:nvPr/>
        </p:nvSpPr>
        <p:spPr>
          <a:xfrm>
            <a:off x="914400" y="9118600"/>
            <a:ext cx="4902200" cy="647700"/>
          </a:xfrm>
          <a:prstGeom prst="rect">
            <a:avLst/>
          </a:prstGeom>
          <a:noFill/>
        </p:spPr>
        <p:txBody>
          <a:bodyPr wrap="none" lIns="0" rIns="0" tIns="0" bIns="0" anchor="ctr">
            <a:spAutoFit/>
          </a:bodyPr>
          <a:lstStyle/>
          <a:p>
            <a:pPr algn="ctr">
              <a:lnSpc>
                <a:spcPct val="110000"/>
              </a:lnSpc>
              <a:spcBef>
                <a:spcPts val="0"/>
              </a:spcBef>
              <a:spcAft>
                <a:spcPts val="0"/>
              </a:spcAft>
              <a:defRPr sz="1850" b="0">
                <a:solidFill>
                  <a:srgbClr val="000000"/>
                </a:solidFill>
                <a:latin typeface="Arial"/>
              </a:defRPr>
            </a:pPr>
            <a:r>
              <a:t>Fraud, spam and legitimate probabilities</a:t>
            </a:r>
          </a:p>
          <a:p>
            <a:pPr algn="ctr">
              <a:lnSpc>
                <a:spcPct val="110000"/>
              </a:lnSpc>
              <a:spcBef>
                <a:spcPts val="0"/>
              </a:spcBef>
              <a:spcAft>
                <a:spcPts val="0"/>
              </a:spcAft>
              <a:defRPr sz="1850" b="0">
                <a:solidFill>
                  <a:srgbClr val="000000"/>
                </a:solidFill>
                <a:latin typeface="Arial"/>
              </a:defRPr>
            </a:pPr>
            <a:r>
              <a:t>Bounded occlusion evidence</a:t>
            </a:r>
          </a:p>
        </p:txBody>
      </p:sp>
      <p:sp>
        <p:nvSpPr>
          <p:cNvPr id="36" name="Phishing URL assessment"/>
          <p:cNvSpPr/>
          <p:nvPr/>
        </p:nvSpPr>
        <p:spPr>
          <a:xfrm>
            <a:off x="6731000" y="8623300"/>
            <a:ext cx="5207000" cy="1244600"/>
          </a:xfrm>
          <a:prstGeom prst="rect">
            <a:avLst/>
          </a:prstGeom>
          <a:solidFill>
            <a:srgbClr val="FFFFFF"/>
          </a:solidFill>
          <a:ln w="15240">
            <a:solidFill>
              <a:srgbClr val="00000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Phishing URL assessment"/>
          <p:cNvSpPr txBox="1"/>
          <p:nvPr/>
        </p:nvSpPr>
        <p:spPr>
          <a:xfrm>
            <a:off x="6858000" y="8737600"/>
            <a:ext cx="4953000" cy="342900"/>
          </a:xfrm>
          <a:prstGeom prst="rect">
            <a:avLst/>
          </a:prstGeom>
          <a:noFill/>
        </p:spPr>
        <p:txBody>
          <a:bodyPr wrap="none" lIns="0" rIns="0" tIns="0" bIns="0" anchor="ctr">
            <a:spAutoFit/>
          </a:bodyPr>
          <a:lstStyle/>
          <a:p>
            <a:pPr algn="ctr">
              <a:lnSpc>
                <a:spcPct val="110000"/>
              </a:lnSpc>
              <a:spcBef>
                <a:spcPts val="0"/>
              </a:spcBef>
              <a:spcAft>
                <a:spcPts val="0"/>
              </a:spcAft>
              <a:defRPr sz="2100" b="1">
                <a:solidFill>
                  <a:srgbClr val="000000"/>
                </a:solidFill>
                <a:latin typeface="Arial"/>
              </a:defRPr>
            </a:pPr>
            <a:r>
              <a:t>Phishing URL assessment</a:t>
            </a:r>
          </a:p>
        </p:txBody>
      </p:sp>
      <p:sp>
        <p:nvSpPr>
          <p:cNvPr id="38" name="URL experts and local link checks Per-link score, reasons and availability"/>
          <p:cNvSpPr txBox="1"/>
          <p:nvPr/>
        </p:nvSpPr>
        <p:spPr>
          <a:xfrm>
            <a:off x="6883400" y="9118600"/>
            <a:ext cx="4902200" cy="647700"/>
          </a:xfrm>
          <a:prstGeom prst="rect">
            <a:avLst/>
          </a:prstGeom>
          <a:noFill/>
        </p:spPr>
        <p:txBody>
          <a:bodyPr wrap="none" lIns="0" rIns="0" tIns="0" bIns="0" anchor="ctr">
            <a:spAutoFit/>
          </a:bodyPr>
          <a:lstStyle/>
          <a:p>
            <a:pPr algn="ctr">
              <a:lnSpc>
                <a:spcPct val="110000"/>
              </a:lnSpc>
              <a:spcBef>
                <a:spcPts val="0"/>
              </a:spcBef>
              <a:spcAft>
                <a:spcPts val="0"/>
              </a:spcAft>
              <a:defRPr sz="1850" b="0">
                <a:solidFill>
                  <a:srgbClr val="000000"/>
                </a:solidFill>
                <a:latin typeface="Arial"/>
              </a:defRPr>
            </a:pPr>
            <a:r>
              <a:t>URL experts and local link checks</a:t>
            </a:r>
          </a:p>
          <a:p>
            <a:pPr algn="ctr">
              <a:lnSpc>
                <a:spcPct val="110000"/>
              </a:lnSpc>
              <a:spcBef>
                <a:spcPts val="0"/>
              </a:spcBef>
              <a:spcAft>
                <a:spcPts val="0"/>
              </a:spcAft>
              <a:defRPr sz="1850" b="0">
                <a:solidFill>
                  <a:srgbClr val="000000"/>
                </a:solidFill>
                <a:latin typeface="Arial"/>
              </a:defRPr>
            </a:pPr>
            <a:r>
              <a:t>Per-link score, reasons and availability</a:t>
            </a:r>
          </a:p>
        </p:txBody>
      </p:sp>
      <p:cxnSp>
        <p:nvCxnSpPr>
          <p:cNvPr id="39" name="Connector 38"/>
          <p:cNvCxnSpPr/>
          <p:nvPr/>
        </p:nvCxnSpPr>
        <p:spPr>
          <a:xfrm>
            <a:off x="3365500" y="9867900"/>
            <a:ext cx="0" cy="355600"/>
          </a:xfrm>
          <a:prstGeom prst="line">
            <a:avLst/>
          </a:prstGeom>
          <a:ln w="1524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334500" y="9867900"/>
            <a:ext cx="0" cy="355600"/>
          </a:xfrm>
          <a:prstGeom prst="line">
            <a:avLst/>
          </a:prstGeom>
          <a:ln w="1524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365500" y="10223500"/>
            <a:ext cx="5969000" cy="0"/>
          </a:xfrm>
          <a:prstGeom prst="line">
            <a:avLst/>
          </a:prstGeom>
          <a:ln w="1524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350000" y="10223500"/>
            <a:ext cx="0" cy="355600"/>
          </a:xfrm>
          <a:prstGeom prst="line">
            <a:avLst/>
          </a:prstGeom>
          <a:ln w="15240">
            <a:solidFill>
              <a:srgbClr val="000000"/>
            </a:solidFill>
            <a:tailEnd type="triangle" w="sm" len="sm"/>
          </a:ln>
        </p:spPr>
        <p:style>
          <a:lnRef idx="2">
            <a:schemeClr val="accent1"/>
          </a:lnRef>
          <a:fillRef idx="0">
            <a:schemeClr val="accent1"/>
          </a:fillRef>
          <a:effectRef idx="1">
            <a:schemeClr val="accent1"/>
          </a:effectRef>
          <a:fontRef idx="minor">
            <a:schemeClr val="tx1"/>
          </a:fontRef>
        </p:style>
      </p:cxnSp>
      <p:sp>
        <p:nvSpPr>
          <p:cNvPr id="43" name="Decision fusion"/>
          <p:cNvSpPr/>
          <p:nvPr/>
        </p:nvSpPr>
        <p:spPr>
          <a:xfrm>
            <a:off x="1778000" y="10579100"/>
            <a:ext cx="9144000" cy="1524000"/>
          </a:xfrm>
          <a:prstGeom prst="rect">
            <a:avLst/>
          </a:prstGeom>
          <a:solidFill>
            <a:srgbClr val="FFFFFF"/>
          </a:solidFill>
          <a:ln w="15240">
            <a:solidFill>
              <a:srgbClr val="00000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Decision fusion"/>
          <p:cNvSpPr txBox="1"/>
          <p:nvPr/>
        </p:nvSpPr>
        <p:spPr>
          <a:xfrm>
            <a:off x="1905000" y="10693400"/>
            <a:ext cx="8890000" cy="342900"/>
          </a:xfrm>
          <a:prstGeom prst="rect">
            <a:avLst/>
          </a:prstGeom>
          <a:noFill/>
        </p:spPr>
        <p:txBody>
          <a:bodyPr wrap="none" lIns="0" rIns="0" tIns="0" bIns="0" anchor="ctr">
            <a:spAutoFit/>
          </a:bodyPr>
          <a:lstStyle/>
          <a:p>
            <a:pPr algn="ctr">
              <a:lnSpc>
                <a:spcPct val="110000"/>
              </a:lnSpc>
              <a:spcBef>
                <a:spcPts val="0"/>
              </a:spcBef>
              <a:spcAft>
                <a:spcPts val="0"/>
              </a:spcAft>
              <a:defRPr sz="2100" b="1">
                <a:solidFill>
                  <a:srgbClr val="000000"/>
                </a:solidFill>
                <a:latin typeface="Arial"/>
              </a:defRPr>
            </a:pPr>
            <a:r>
              <a:t>Decision fusion</a:t>
            </a:r>
          </a:p>
        </p:txBody>
      </p:sp>
      <p:sp>
        <p:nvSpPr>
          <p:cNvPr id="45" name="Maximum of text risk and available URL risk indices A URL alert can escalate the final verdict Missing checks stay expli"/>
          <p:cNvSpPr txBox="1"/>
          <p:nvPr/>
        </p:nvSpPr>
        <p:spPr>
          <a:xfrm>
            <a:off x="1930400" y="11074400"/>
            <a:ext cx="8839200" cy="927100"/>
          </a:xfrm>
          <a:prstGeom prst="rect">
            <a:avLst/>
          </a:prstGeom>
          <a:noFill/>
        </p:spPr>
        <p:txBody>
          <a:bodyPr wrap="none" lIns="0" rIns="0" tIns="0" bIns="0" anchor="ctr">
            <a:spAutoFit/>
          </a:bodyPr>
          <a:lstStyle/>
          <a:p>
            <a:pPr algn="ctr">
              <a:lnSpc>
                <a:spcPct val="110000"/>
              </a:lnSpc>
              <a:spcBef>
                <a:spcPts val="0"/>
              </a:spcBef>
              <a:spcAft>
                <a:spcPts val="0"/>
              </a:spcAft>
              <a:defRPr sz="1900" b="0">
                <a:solidFill>
                  <a:srgbClr val="000000"/>
                </a:solidFill>
                <a:latin typeface="Arial"/>
              </a:defRPr>
            </a:pPr>
            <a:r>
              <a:t>Maximum of text risk and available URL risk indices</a:t>
            </a:r>
          </a:p>
          <a:p>
            <a:pPr algn="ctr">
              <a:lnSpc>
                <a:spcPct val="110000"/>
              </a:lnSpc>
              <a:spcBef>
                <a:spcPts val="0"/>
              </a:spcBef>
              <a:spcAft>
                <a:spcPts val="0"/>
              </a:spcAft>
              <a:defRPr sz="1900" b="0">
                <a:solidFill>
                  <a:srgbClr val="000000"/>
                </a:solidFill>
                <a:latin typeface="Arial"/>
              </a:defRPr>
            </a:pPr>
            <a:r>
              <a:t>A URL alert can escalate the final verdict</a:t>
            </a:r>
          </a:p>
          <a:p>
            <a:pPr algn="ctr">
              <a:lnSpc>
                <a:spcPct val="110000"/>
              </a:lnSpc>
              <a:spcBef>
                <a:spcPts val="0"/>
              </a:spcBef>
              <a:spcAft>
                <a:spcPts val="0"/>
              </a:spcAft>
              <a:defRPr sz="1900" b="0">
                <a:solidFill>
                  <a:srgbClr val="000000"/>
                </a:solidFill>
                <a:latin typeface="Arial"/>
              </a:defRPr>
            </a:pPr>
            <a:r>
              <a:t>Missing checks stay explicit. With no links, use the text result</a:t>
            </a:r>
          </a:p>
        </p:txBody>
      </p:sp>
      <p:cxnSp>
        <p:nvCxnSpPr>
          <p:cNvPr id="46" name="Connector 45"/>
          <p:cNvCxnSpPr/>
          <p:nvPr/>
        </p:nvCxnSpPr>
        <p:spPr>
          <a:xfrm>
            <a:off x="6350000" y="12103100"/>
            <a:ext cx="0" cy="342900"/>
          </a:xfrm>
          <a:prstGeom prst="line">
            <a:avLst/>
          </a:prstGeom>
          <a:ln w="15240">
            <a:solidFill>
              <a:srgbClr val="000000"/>
            </a:solidFill>
            <a:tailEnd type="triangle" w="sm" len="sm"/>
          </a:ln>
        </p:spPr>
        <p:style>
          <a:lnRef idx="2">
            <a:schemeClr val="accent1"/>
          </a:lnRef>
          <a:fillRef idx="0">
            <a:schemeClr val="accent1"/>
          </a:fillRef>
          <a:effectRef idx="1">
            <a:schemeClr val="accent1"/>
          </a:effectRef>
          <a:fontRef idx="minor">
            <a:schemeClr val="tx1"/>
          </a:fontRef>
        </p:style>
      </p:cxnSp>
      <p:sp>
        <p:nvSpPr>
          <p:cNvPr id="47" name="Save the original assessment"/>
          <p:cNvSpPr/>
          <p:nvPr/>
        </p:nvSpPr>
        <p:spPr>
          <a:xfrm>
            <a:off x="1778000" y="12446000"/>
            <a:ext cx="9144000" cy="965200"/>
          </a:xfrm>
          <a:prstGeom prst="rect">
            <a:avLst/>
          </a:prstGeom>
          <a:solidFill>
            <a:srgbClr val="FFFFFF"/>
          </a:solidFill>
          <a:ln w="15240">
            <a:solidFill>
              <a:srgbClr val="00000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Save the original assessment"/>
          <p:cNvSpPr txBox="1"/>
          <p:nvPr/>
        </p:nvSpPr>
        <p:spPr>
          <a:xfrm>
            <a:off x="1905000" y="12560300"/>
            <a:ext cx="8890000" cy="342900"/>
          </a:xfrm>
          <a:prstGeom prst="rect">
            <a:avLst/>
          </a:prstGeom>
          <a:noFill/>
        </p:spPr>
        <p:txBody>
          <a:bodyPr wrap="none" lIns="0" rIns="0" tIns="0" bIns="0" anchor="ctr">
            <a:spAutoFit/>
          </a:bodyPr>
          <a:lstStyle/>
          <a:p>
            <a:pPr algn="ctr">
              <a:lnSpc>
                <a:spcPct val="110000"/>
              </a:lnSpc>
              <a:spcBef>
                <a:spcPts val="0"/>
              </a:spcBef>
              <a:spcAft>
                <a:spcPts val="0"/>
              </a:spcAft>
              <a:defRPr sz="2100" b="1">
                <a:solidFill>
                  <a:srgbClr val="000000"/>
                </a:solidFill>
                <a:latin typeface="Arial"/>
              </a:defRPr>
            </a:pPr>
            <a:r>
              <a:t>Save the original assessment</a:t>
            </a:r>
          </a:p>
        </p:txBody>
      </p:sp>
      <p:sp>
        <p:nvSpPr>
          <p:cNvPr id="49" name="Owner-scoped history, separate branch scores and link coverage"/>
          <p:cNvSpPr txBox="1"/>
          <p:nvPr/>
        </p:nvSpPr>
        <p:spPr>
          <a:xfrm>
            <a:off x="1930400" y="12941300"/>
            <a:ext cx="8839200" cy="368300"/>
          </a:xfrm>
          <a:prstGeom prst="rect">
            <a:avLst/>
          </a:prstGeom>
          <a:noFill/>
        </p:spPr>
        <p:txBody>
          <a:bodyPr wrap="none" lIns="0" rIns="0" tIns="0" bIns="0" anchor="ctr">
            <a:spAutoFit/>
          </a:bodyPr>
          <a:lstStyle/>
          <a:p>
            <a:pPr algn="ctr">
              <a:lnSpc>
                <a:spcPct val="110000"/>
              </a:lnSpc>
              <a:spcBef>
                <a:spcPts val="0"/>
              </a:spcBef>
              <a:spcAft>
                <a:spcPts val="0"/>
              </a:spcAft>
              <a:defRPr sz="1900" b="0">
                <a:solidFill>
                  <a:srgbClr val="000000"/>
                </a:solidFill>
                <a:latin typeface="Arial"/>
              </a:defRPr>
            </a:pPr>
            <a:r>
              <a:t>Owner-scoped history, separate branch scores and link coverage</a:t>
            </a:r>
          </a:p>
        </p:txBody>
      </p:sp>
      <p:cxnSp>
        <p:nvCxnSpPr>
          <p:cNvPr id="50" name="Connector 49"/>
          <p:cNvCxnSpPr/>
          <p:nvPr/>
        </p:nvCxnSpPr>
        <p:spPr>
          <a:xfrm>
            <a:off x="6350000" y="13411200"/>
            <a:ext cx="0" cy="241300"/>
          </a:xfrm>
          <a:prstGeom prst="line">
            <a:avLst/>
          </a:prstGeom>
          <a:ln w="1524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3365500" y="13652500"/>
            <a:ext cx="2984500" cy="0"/>
          </a:xfrm>
          <a:prstGeom prst="line">
            <a:avLst/>
          </a:prstGeom>
          <a:ln w="1524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3365500" y="13652500"/>
            <a:ext cx="0" cy="254000"/>
          </a:xfrm>
          <a:prstGeom prst="line">
            <a:avLst/>
          </a:prstGeom>
          <a:ln w="15240">
            <a:solidFill>
              <a:srgbClr val="000000"/>
            </a:solidFill>
            <a:tailEnd type="triangle" w="sm" len="sm"/>
          </a:ln>
        </p:spPr>
        <p:style>
          <a:lnRef idx="2">
            <a:schemeClr val="accent1"/>
          </a:lnRef>
          <a:fillRef idx="0">
            <a:schemeClr val="accent1"/>
          </a:fillRef>
          <a:effectRef idx="1">
            <a:schemeClr val="accent1"/>
          </a:effectRef>
          <a:fontRef idx="minor">
            <a:schemeClr val="tx1"/>
          </a:fontRef>
        </p:style>
      </p:cxnSp>
      <p:sp>
        <p:nvSpPr>
          <p:cNvPr id="53" name="Website and Gmail result"/>
          <p:cNvSpPr/>
          <p:nvPr/>
        </p:nvSpPr>
        <p:spPr>
          <a:xfrm>
            <a:off x="762000" y="13906500"/>
            <a:ext cx="5207000" cy="1155700"/>
          </a:xfrm>
          <a:prstGeom prst="rect">
            <a:avLst/>
          </a:prstGeom>
          <a:solidFill>
            <a:srgbClr val="FFFFFF"/>
          </a:solidFill>
          <a:ln w="15240">
            <a:solidFill>
              <a:srgbClr val="00000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Website and Gmail result"/>
          <p:cNvSpPr txBox="1"/>
          <p:nvPr/>
        </p:nvSpPr>
        <p:spPr>
          <a:xfrm>
            <a:off x="889000" y="14020800"/>
            <a:ext cx="4953000" cy="342900"/>
          </a:xfrm>
          <a:prstGeom prst="rect">
            <a:avLst/>
          </a:prstGeom>
          <a:noFill/>
        </p:spPr>
        <p:txBody>
          <a:bodyPr wrap="none" lIns="0" rIns="0" tIns="0" bIns="0" anchor="ctr">
            <a:spAutoFit/>
          </a:bodyPr>
          <a:lstStyle/>
          <a:p>
            <a:pPr algn="ctr">
              <a:lnSpc>
                <a:spcPct val="110000"/>
              </a:lnSpc>
              <a:spcBef>
                <a:spcPts val="0"/>
              </a:spcBef>
              <a:spcAft>
                <a:spcPts val="0"/>
              </a:spcAft>
              <a:defRPr sz="2100" b="1">
                <a:solidFill>
                  <a:srgbClr val="000000"/>
                </a:solidFill>
                <a:latin typeface="Arial"/>
              </a:defRPr>
            </a:pPr>
            <a:r>
              <a:t>Website and Gmail result</a:t>
            </a:r>
          </a:p>
        </p:txBody>
      </p:sp>
      <p:sp>
        <p:nvSpPr>
          <p:cNvPr id="55" name="Message explanation and per-link reasons Website PDF export"/>
          <p:cNvSpPr txBox="1"/>
          <p:nvPr/>
        </p:nvSpPr>
        <p:spPr>
          <a:xfrm>
            <a:off x="914400" y="14401800"/>
            <a:ext cx="4902200" cy="558800"/>
          </a:xfrm>
          <a:prstGeom prst="rect">
            <a:avLst/>
          </a:prstGeom>
          <a:noFill/>
        </p:spPr>
        <p:txBody>
          <a:bodyPr wrap="none" lIns="0" rIns="0" tIns="0" bIns="0" anchor="ctr">
            <a:spAutoFit/>
          </a:bodyPr>
          <a:lstStyle/>
          <a:p>
            <a:pPr algn="ctr">
              <a:lnSpc>
                <a:spcPct val="110000"/>
              </a:lnSpc>
              <a:spcBef>
                <a:spcPts val="0"/>
              </a:spcBef>
              <a:spcAft>
                <a:spcPts val="0"/>
              </a:spcAft>
              <a:defRPr sz="1800" b="0">
                <a:solidFill>
                  <a:srgbClr val="000000"/>
                </a:solidFill>
                <a:latin typeface="Arial"/>
              </a:defRPr>
            </a:pPr>
            <a:r>
              <a:t>Message explanation and per-link reasons</a:t>
            </a:r>
          </a:p>
          <a:p>
            <a:pPr algn="ctr">
              <a:lnSpc>
                <a:spcPct val="110000"/>
              </a:lnSpc>
              <a:spcBef>
                <a:spcPts val="0"/>
              </a:spcBef>
              <a:spcAft>
                <a:spcPts val="0"/>
              </a:spcAft>
              <a:defRPr sz="1800" b="0">
                <a:solidFill>
                  <a:srgbClr val="000000"/>
                </a:solidFill>
                <a:latin typeface="Arial"/>
              </a:defRPr>
            </a:pPr>
            <a:r>
              <a:t>Website PDF export</a:t>
            </a:r>
          </a:p>
        </p:txBody>
      </p:sp>
      <p:cxnSp>
        <p:nvCxnSpPr>
          <p:cNvPr id="56" name="Connector 55"/>
          <p:cNvCxnSpPr/>
          <p:nvPr/>
        </p:nvCxnSpPr>
        <p:spPr>
          <a:xfrm>
            <a:off x="5969000" y="14478000"/>
            <a:ext cx="762000" cy="0"/>
          </a:xfrm>
          <a:prstGeom prst="line">
            <a:avLst/>
          </a:prstGeom>
          <a:ln w="15240">
            <a:solidFill>
              <a:srgbClr val="000000"/>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57" name="Inspect this URL, on request"/>
          <p:cNvSpPr/>
          <p:nvPr/>
        </p:nvSpPr>
        <p:spPr>
          <a:xfrm>
            <a:off x="6731000" y="13906500"/>
            <a:ext cx="5207000" cy="1155700"/>
          </a:xfrm>
          <a:prstGeom prst="rect">
            <a:avLst/>
          </a:prstGeom>
          <a:solidFill>
            <a:srgbClr val="FFFFFF"/>
          </a:solidFill>
          <a:ln w="15240">
            <a:solidFill>
              <a:srgbClr val="000000"/>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Inspect this URL, on request"/>
          <p:cNvSpPr txBox="1"/>
          <p:nvPr/>
        </p:nvSpPr>
        <p:spPr>
          <a:xfrm>
            <a:off x="6858000" y="14020800"/>
            <a:ext cx="4953000" cy="342900"/>
          </a:xfrm>
          <a:prstGeom prst="rect">
            <a:avLst/>
          </a:prstGeom>
          <a:noFill/>
        </p:spPr>
        <p:txBody>
          <a:bodyPr wrap="none" lIns="0" rIns="0" tIns="0" bIns="0" anchor="ctr">
            <a:spAutoFit/>
          </a:bodyPr>
          <a:lstStyle/>
          <a:p>
            <a:pPr algn="ctr">
              <a:lnSpc>
                <a:spcPct val="110000"/>
              </a:lnSpc>
              <a:spcBef>
                <a:spcPts val="0"/>
              </a:spcBef>
              <a:spcAft>
                <a:spcPts val="0"/>
              </a:spcAft>
              <a:defRPr sz="2100" b="1">
                <a:solidFill>
                  <a:srgbClr val="000000"/>
                </a:solidFill>
                <a:latin typeface="Arial"/>
              </a:defRPr>
            </a:pPr>
            <a:r>
              <a:t>Inspect this URL, on request</a:t>
            </a:r>
          </a:p>
        </p:txBody>
      </p:sp>
      <p:sp>
        <p:nvSpPr>
          <p:cNvPr id="59" name="Protected website evidence snapshot Save separately, retain the quick score"/>
          <p:cNvSpPr txBox="1"/>
          <p:nvPr/>
        </p:nvSpPr>
        <p:spPr>
          <a:xfrm>
            <a:off x="6883400" y="14401800"/>
            <a:ext cx="4902200" cy="558800"/>
          </a:xfrm>
          <a:prstGeom prst="rect">
            <a:avLst/>
          </a:prstGeom>
          <a:noFill/>
        </p:spPr>
        <p:txBody>
          <a:bodyPr wrap="none" lIns="0" rIns="0" tIns="0" bIns="0" anchor="ctr">
            <a:spAutoFit/>
          </a:bodyPr>
          <a:lstStyle/>
          <a:p>
            <a:pPr algn="ctr">
              <a:lnSpc>
                <a:spcPct val="110000"/>
              </a:lnSpc>
              <a:spcBef>
                <a:spcPts val="0"/>
              </a:spcBef>
              <a:spcAft>
                <a:spcPts val="0"/>
              </a:spcAft>
              <a:defRPr sz="1800" b="0">
                <a:solidFill>
                  <a:srgbClr val="000000"/>
                </a:solidFill>
                <a:latin typeface="Arial"/>
              </a:defRPr>
            </a:pPr>
            <a:r>
              <a:t>Protected website evidence snapshot</a:t>
            </a:r>
          </a:p>
          <a:p>
            <a:pPr algn="ctr">
              <a:lnSpc>
                <a:spcPct val="110000"/>
              </a:lnSpc>
              <a:spcBef>
                <a:spcPts val="0"/>
              </a:spcBef>
              <a:spcAft>
                <a:spcPts val="0"/>
              </a:spcAft>
              <a:defRPr sz="1800" b="0">
                <a:solidFill>
                  <a:srgbClr val="000000"/>
                </a:solidFill>
                <a:latin typeface="Arial"/>
              </a:defRPr>
            </a:pPr>
            <a:r>
              <a:t>Save separately, retain the quick score</a:t>
            </a:r>
          </a:p>
        </p:txBody>
      </p:sp>
      <p:sp>
        <p:nvSpPr>
          <p:cNvPr id="60" name="The combined warning index is not a calibrated probability. Text probabilities remain separate."/>
          <p:cNvSpPr txBox="1"/>
          <p:nvPr/>
        </p:nvSpPr>
        <p:spPr>
          <a:xfrm>
            <a:off x="508000" y="15316200"/>
            <a:ext cx="11684000" cy="279400"/>
          </a:xfrm>
          <a:prstGeom prst="rect">
            <a:avLst/>
          </a:prstGeom>
          <a:noFill/>
        </p:spPr>
        <p:txBody>
          <a:bodyPr wrap="none" lIns="0" rIns="0" tIns="0" bIns="0" anchor="ctr">
            <a:spAutoFit/>
          </a:bodyPr>
          <a:lstStyle/>
          <a:p>
            <a:pPr algn="ctr">
              <a:lnSpc>
                <a:spcPct val="110000"/>
              </a:lnSpc>
              <a:spcBef>
                <a:spcPts val="0"/>
              </a:spcBef>
              <a:spcAft>
                <a:spcPts val="0"/>
              </a:spcAft>
              <a:defRPr sz="1600" b="0">
                <a:solidFill>
                  <a:srgbClr val="000000"/>
                </a:solidFill>
                <a:latin typeface="Arial"/>
              </a:defRPr>
            </a:pPr>
            <a:r>
              <a:t>The combined warning index is not a calibrated probability. Text probabilities remain separate.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